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</a:t>
            </a:r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SX3K 코팅 Section 자료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406640" y="164592"/>
            <a:ext cx="1709928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595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595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60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1105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595" dirty="0"/>
          </a:p>
        </p:txBody>
      </p:sp>
      <p:sp>
        <p:nvSpPr>
          <p:cNvPr id="4" name="Shape 2"/>
          <p:cNvSpPr/>
          <p:nvPr/>
        </p:nvSpPr>
        <p:spPr>
          <a:xfrm>
            <a:off x="228600" y="713232"/>
            <a:ext cx="8686800" cy="0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코팅 라인 구성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371600"/>
            <a:ext cx="1234440" cy="777240"/>
          </a:xfrm>
          <a:prstGeom prst="rect">
            <a:avLst/>
          </a:prstGeom>
          <a:solidFill>
            <a:srgbClr val="F2F2F2"/>
          </a:solidFill>
          <a:ln w="12700">
            <a:solidFill>
              <a:srgbClr val="2E5B9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37160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(AJRLD-150U)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664208" y="16230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B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92808" y="1371600"/>
            <a:ext cx="1234440" cy="777240"/>
          </a:xfrm>
          <a:prstGeom prst="rect">
            <a:avLst/>
          </a:prstGeom>
          <a:solidFill>
            <a:srgbClr val="DCE6F1"/>
          </a:solidFill>
          <a:ln w="12700">
            <a:solidFill>
              <a:srgbClr val="2E5B9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92808" y="137160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코팅기 #1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(Mi-1400)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099816" y="16230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B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28416" y="1371600"/>
            <a:ext cx="1234440" cy="777240"/>
          </a:xfrm>
          <a:prstGeom prst="rect">
            <a:avLst/>
          </a:prstGeom>
          <a:solidFill>
            <a:srgbClr val="DCE6F1"/>
          </a:solidFill>
          <a:ln w="12700">
            <a:solidFill>
              <a:srgbClr val="2E5B9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28416" y="137160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일반 코팅기 #2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(Mi-1400)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35424" y="16230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B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64024" y="1371600"/>
            <a:ext cx="1234440" cy="777240"/>
          </a:xfrm>
          <a:prstGeom prst="rect">
            <a:avLst/>
          </a:prstGeom>
          <a:solidFill>
            <a:srgbClr val="DCE6F1"/>
          </a:solidFill>
          <a:ln w="12700">
            <a:solidFill>
              <a:srgbClr val="2E5B9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64024" y="137160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Tilt 코팅기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(Mi-1600TG)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71032" y="16230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B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99632" y="1371600"/>
            <a:ext cx="1234440" cy="777240"/>
          </a:xfrm>
          <a:prstGeom prst="rect">
            <a:avLst/>
          </a:prstGeom>
          <a:solidFill>
            <a:srgbClr val="DCE6F1"/>
          </a:solidFill>
          <a:ln w="12700">
            <a:solidFill>
              <a:srgbClr val="2E5B9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9632" y="137160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 경화기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(MC-2000UV)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406640" y="162306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B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635240" y="1371600"/>
            <a:ext cx="1234440" cy="777240"/>
          </a:xfrm>
          <a:prstGeom prst="rect">
            <a:avLst/>
          </a:prstGeom>
          <a:solidFill>
            <a:srgbClr val="F2F2F2"/>
          </a:solidFill>
          <a:ln w="12700">
            <a:solidFill>
              <a:srgbClr val="2E5B9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35240" y="1371600"/>
            <a:ext cx="1234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UnLoader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(AWT-150U)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코팅기 총 3대 + UV 경화기 1대 운용, 전/후단 컨베이어(Loader/UnLoader) 구성 — 설비 배치 순서는 확인 필요</a:t>
            </a:r>
            <a:endParaRPr lang="en-US" sz="9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76809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  <a:gridCol w="109728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품목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규격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수량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비고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일반 코팅기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Mi-1400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Tilt 코팅기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Mi-1600TG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UV 경화기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MC-2000UV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AJRLD-150U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전단 컨베이어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UnLoader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AWT-150U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후단 컨베이어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합계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2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7818120" y="6492240"/>
            <a:ext cx="10515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18120" y="649224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</a:t>
            </a:r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SX3K 코팅 Section 자료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406640" y="164592"/>
            <a:ext cx="1709928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595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595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60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1105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595" dirty="0"/>
          </a:p>
        </p:txBody>
      </p:sp>
      <p:sp>
        <p:nvSpPr>
          <p:cNvPr id="4" name="Shape 2"/>
          <p:cNvSpPr/>
          <p:nvPr/>
        </p:nvSpPr>
        <p:spPr>
          <a:xfrm>
            <a:off x="228600" y="713232"/>
            <a:ext cx="8686800" cy="0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재원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Supplier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Coating liquid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Shin Kwang Chemicals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HB-2U1S-04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Coating Machine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Micro 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Niddle-Valve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2606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Base Parameter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</a:tblGrid>
              <a:tr h="310896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Coating Parameter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토출압 (bar)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Tap Nozzle Speed (m/s)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Fuse Nozzle Speed (m/s)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~ 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40~70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~ 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/>
          <p:nvPr/>
        </p:nvSpPr>
        <p:spPr>
          <a:xfrm>
            <a:off x="548640" y="42976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JG EV 라인과 동일 코팅 설비 · 재원 · Base Parameter 적용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7818120" y="6492240"/>
            <a:ext cx="10515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18120" y="649224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</a:t>
            </a:r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SX3K 코팅 Section 자료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406640" y="164592"/>
            <a:ext cx="1709928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595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595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60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1105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595" dirty="0"/>
          </a:p>
        </p:txBody>
      </p:sp>
      <p:sp>
        <p:nvSpPr>
          <p:cNvPr id="4" name="Shape 2"/>
          <p:cNvSpPr/>
          <p:nvPr/>
        </p:nvSpPr>
        <p:spPr>
          <a:xfrm>
            <a:off x="228600" y="713232"/>
            <a:ext cx="8686800" cy="0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부위별 코팅 두께 측정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258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258568"/>
                <a:gridCol w="2258568"/>
                <a:gridCol w="224942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Point. \ Sample No.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PCB Board #1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PCB Board #2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PCB Board #3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  <a:tr h="11155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Point. 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(센싱탭)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11155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Point. 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(퓨즈)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11155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Point. 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(커넥터)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11155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Point. 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(NTC)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0909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사진 삽입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818120" y="6492240"/>
            <a:ext cx="10515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18120" y="649224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</a:t>
            </a:r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SX3K 코팅 Section 자료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406640" y="164592"/>
            <a:ext cx="1709928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595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595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60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1105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595" dirty="0"/>
          </a:p>
        </p:txBody>
      </p:sp>
      <p:sp>
        <p:nvSpPr>
          <p:cNvPr id="4" name="Shape 2"/>
          <p:cNvSpPr/>
          <p:nvPr/>
        </p:nvSpPr>
        <p:spPr>
          <a:xfrm>
            <a:off x="228600" y="713232"/>
            <a:ext cx="8686800" cy="0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NTC 도포 방식 검토 (설비 자동 도포 → Manual 도포)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3291840" cy="20116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21031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9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NTC 외관 사진 삽입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3520440"/>
            <a:ext cx="3291840" cy="20116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365760" y="42519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09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단면 사진 삽입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09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(422 / 527 / 119 um)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설비 자동 도포 시 편차 불량 예시 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886200" y="1371600"/>
            <a:ext cx="489204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8080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080" y="1508760"/>
            <a:ext cx="457200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설비 자동 도포 시 문제점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NTC 소자 기준 좌/우 코팅 두께 편차 발생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(예: 좌 422um / 상 527um / 우 119um)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노즐 토출 경로 특성상 소자 한쪽으로 코팅액 쏠림 발생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→ 한쪽 과도포 / 반대쪽 박도포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박도포부는 소자 보호·절연 성능 저하 우려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개선 방안 : NTC부 Manual 도포 적용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소자 중심 기준 도포 위치/양 조절 가능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→ 좌/우 균일한 돔 형상 확보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두께 편차 최소화로 소자 보호 품질 안정성 확보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□ 결론 : </a:t>
            </a:r>
            <a:pPr algn="l" indent="0" marL="0">
              <a:buNone/>
            </a:pPr>
            <a:r>
              <a:rPr lang="en-US" sz="1200" b="1" dirty="0">
                <a:solidFill>
                  <a:srgbClr val="007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NTC부는 Manual 도포 적용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6492240"/>
            <a:ext cx="10515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18120" y="649224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0116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 </a:t>
            </a:r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SX3K 코팅 Section 자료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406640" y="164592"/>
            <a:ext cx="1709928" cy="481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595" i="1" dirty="0">
                <a:solidFill>
                  <a:srgbClr val="1F4E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songhyun</a:t>
            </a:r>
            <a:endParaRPr lang="en-US" sz="595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60" b="1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GlowOne</a:t>
            </a:r>
            <a:pPr indent="0" marL="0">
              <a:lnSpc>
                <a:spcPct val="90000"/>
              </a:lnSpc>
              <a:buNone/>
            </a:pPr>
            <a:r>
              <a:rPr lang="en-US" sz="1105" b="1" dirty="0">
                <a:solidFill>
                  <a:srgbClr val="E842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”</a:t>
            </a:r>
            <a:endParaRPr lang="en-US" sz="595" dirty="0"/>
          </a:p>
        </p:txBody>
      </p:sp>
      <p:sp>
        <p:nvSpPr>
          <p:cNvPr id="4" name="Shape 2"/>
          <p:cNvSpPr/>
          <p:nvPr/>
        </p:nvSpPr>
        <p:spPr>
          <a:xfrm>
            <a:off x="228600" y="713232"/>
            <a:ext cx="8686800" cy="0"/>
          </a:xfrm>
          <a:prstGeom prst="line">
            <a:avLst/>
          </a:prstGeom>
          <a:noFill/>
          <a:ln w="12700">
            <a:solidFill>
              <a:srgbClr val="8080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Summary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8138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8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부위별 코팅 두께 측정 결과: 센싱탭 [ ]um / 퓨즈 [ ]um / 커넥터 [ ]um / NTC [ ]um 수준</a:t>
            </a:r>
            <a:endParaRPr lang="en-US" sz="1200" dirty="0"/>
          </a:p>
          <a:p>
            <a:pPr algn="l" marL="342900" indent="-342900">
              <a:spcAft>
                <a:spcPts val="18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코팅 두께 관리 기준: [ 부위별 관리 기준 기입 ]</a:t>
            </a:r>
            <a:endParaRPr lang="en-US" sz="1200" dirty="0"/>
          </a:p>
          <a:p>
            <a:pPr algn="l" marL="342900" indent="-342900">
              <a:spcAft>
                <a:spcPts val="18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NTC부는 설비 자동 도포 시 좌/우 편차 발생 → Manual 도포 적용 제안</a:t>
            </a:r>
            <a:endParaRPr lang="en-US" sz="1200" dirty="0"/>
          </a:p>
          <a:p>
            <a:pPr algn="l" marL="342900" indent="-342900">
              <a:spcAft>
                <a:spcPts val="1800"/>
              </a:spcAft>
              <a:buSzPct val="100000"/>
              <a:buChar char="•"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 추가 Summary 항목 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080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실제 SX3K 섹션 자료 수신 후 구성/수치 업데이트 예정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6473952"/>
            <a:ext cx="8686800" cy="0"/>
          </a:xfrm>
          <a:prstGeom prst="line">
            <a:avLst/>
          </a:prstGeom>
          <a:noFill/>
          <a:ln w="19050">
            <a:solidFill>
              <a:srgbClr val="00A65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651052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00A6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Solution Company with Advanced Technology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206240" y="65105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0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818120" y="6492240"/>
            <a:ext cx="10515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18120" y="649224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2026-08-07T02:18:31Z</dcterms:created>
  <dcterms:modified xsi:type="dcterms:W3CDTF">2026-08-07T02:18:31Z</dcterms:modified>
</cp:coreProperties>
</file>