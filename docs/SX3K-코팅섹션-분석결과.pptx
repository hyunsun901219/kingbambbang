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rawings/vmlDrawing1.vml" ContentType="application/vnd.openxmlformats-officedocument.vmlDrawing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autoCompressPictures="0">
  <p:sldMasterIdLst>
    <p:sldMasterId id="2147483839" r:id="rId1"/>
    <p:sldMasterId id="2147483865" r:id="rId2"/>
  </p:sldMasterIdLst>
  <p:notesMasterIdLst>
    <p:notesMasterId r:id="rId8"/>
  </p:notesMasterIdLst>
  <p:handoutMasterIdLst>
    <p:handoutMasterId r:id="rId9"/>
  </p:handoutMasterIdLst>
  <p:sldIdLst>
    <p:sldId id="3691" r:id="rId14"/>
    <p:sldId id="3692" r:id="rId15"/>
    <p:sldId id="3693" r:id="rId16"/>
    <p:sldId id="3694" r:id="rId17"/>
    <p:sldId id="3695" r:id="rId18"/>
    <p:sldId id="3696" r:id="rId19"/>
    <p:sldId id="3697" r:id="rId20"/>
    <p:sldId id="3698" r:id="rId21"/>
  </p:sldIdLst>
  <p:sldSz cx="9906000" cy="6859588"/>
  <p:notesSz cx="6805613" cy="9939338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1pPr>
    <a:lvl2pPr marL="457114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2pPr>
    <a:lvl3pPr marL="914226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3pPr>
    <a:lvl4pPr marL="1371341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4pPr>
    <a:lvl5pPr marL="1828454" algn="l" rtl="0" fontAlgn="base" latinLnBrk="1">
      <a:spcBef>
        <a:spcPct val="0"/>
      </a:spcBef>
      <a:spcAft>
        <a:spcPct val="0"/>
      </a:spcAft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5pPr>
    <a:lvl6pPr marL="2285567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6pPr>
    <a:lvl7pPr marL="2742680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7pPr>
    <a:lvl8pPr marL="3199794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8pPr>
    <a:lvl9pPr marL="3656908" algn="l" defTabSz="914226" rtl="0" eaLnBrk="1" latinLnBrk="1" hangingPunct="1">
      <a:defRPr kumimoji="1" sz="1600" kern="1200">
        <a:solidFill>
          <a:srgbClr val="00B0F0"/>
        </a:solidFill>
        <a:latin typeface="산돌명조B"/>
        <a:ea typeface="산돌명조B"/>
        <a:cs typeface="산돌명조B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979">
          <p15:clr>
            <a:srgbClr val="A4A3A4"/>
          </p15:clr>
        </p15:guide>
        <p15:guide id="2" orient="horz" pos="3974">
          <p15:clr>
            <a:srgbClr val="A4A3A4"/>
          </p15:clr>
        </p15:guide>
        <p15:guide id="3" orient="horz" pos="663">
          <p15:clr>
            <a:srgbClr val="A4A3A4"/>
          </p15:clr>
        </p15:guide>
        <p15:guide id="4" orient="horz" pos="300">
          <p15:clr>
            <a:srgbClr val="A4A3A4"/>
          </p15:clr>
        </p15:guide>
        <p15:guide id="5" pos="6023">
          <p15:clr>
            <a:srgbClr val="A4A3A4"/>
          </p15:clr>
        </p15:guide>
        <p15:guide id="6" pos="21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>
        <p15:guide id="1" orient="horz" pos="3130">
          <p15:clr>
            <a:srgbClr val="A4A3A4"/>
          </p15:clr>
        </p15:guide>
        <p15:guide id="2" pos="214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0A44A"/>
    <a:srgbClr val="0000CC"/>
    <a:srgbClr val="00C057"/>
    <a:srgbClr val="2D70F7"/>
    <a:srgbClr val="FF6600"/>
    <a:srgbClr val="00B050"/>
    <a:srgbClr val="006699"/>
    <a:srgbClr val="1F497D"/>
    <a:srgbClr val="2D5A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밝은 스타일 1 - 강조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DCAF9ED-07DC-4A11-8D7F-57B35C25682E}" styleName="보통 스타일 1 - 강조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D03447BB-5D67-496B-8E87-E561075AD55C}" styleName="어두운 스타일 1 - 강조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밝은 스타일 2 - 강조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 horzBarState="maximized">
    <p:restoredLeft sz="11947" autoAdjust="0"/>
    <p:restoredTop sz="96327" autoAdjust="0"/>
  </p:normalViewPr>
  <p:slideViewPr>
    <p:cSldViewPr snapToObjects="1" showGuides="1">
      <p:cViewPr varScale="1">
        <p:scale>
          <a:sx n="116" d="100"/>
          <a:sy n="116" d="100"/>
        </p:scale>
        <p:origin x="-1152" y="-77"/>
      </p:cViewPr>
      <p:guideLst>
        <p:guide orient="horz" pos="1980"/>
        <p:guide orient="horz" pos="3975"/>
        <p:guide orient="horz" pos="663"/>
        <p:guide orient="horz" pos="300"/>
        <p:guide pos="6023"/>
        <p:guide pos="21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Objects="1" showGuides="1">
      <p:cViewPr varScale="1">
        <p:scale>
          <a:sx n="100" d="100"/>
          <a:sy n="100" d="100"/>
        </p:scale>
        <p:origin x="4344" y="184"/>
      </p:cViewPr>
      <p:guideLst>
        <p:guide orient="horz" pos="3130"/>
        <p:guide pos="2144"/>
      </p:guideLst>
    </p:cSldViewPr>
  </p:notesViewPr>
  <p:gridSpacing cx="72010" cy="7201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drawings/_rels/vmlDrawing1.vml.rels><?xml version='1.0' encoding='UTF-8' standalone='yes'?>
<Relationships xmlns="http://schemas.openxmlformats.org/package/2006/relationships"><Relationship Id="rId1" Type="http://schemas.openxmlformats.org/officeDocument/2006/relationships/image" Target="../media/image2.emf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0"/>
            <a:ext cx="294942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4591" y="10"/>
            <a:ext cx="294942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fld id="{63D7C49F-6196-4C5B-A636-F4E7F2DE6279}" type="datetimeFigureOut">
              <a:rPr lang="ko-KR" altLang="en-US">
                <a:latin typeface="Malgun Gothic" panose="020B0503020000020004" pitchFamily="34" charset="-127"/>
                <a:ea typeface="Malgun Gothic" panose="020B0503020000020004" pitchFamily="34" charset="-127"/>
              </a:rPr>
              <a:pPr>
                <a:defRPr/>
              </a:pPr>
              <a:t>2026-01-13</a:t>
            </a:fld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40854"/>
            <a:ext cx="2949420" cy="496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b" anchorCtr="0" compatLnSpc="1">
            <a:prstTxWarp prst="textNoShape">
              <a:avLst/>
            </a:prstTxWarp>
          </a:bodyPr>
          <a:lstStyle>
            <a:lvl1pPr algn="l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593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4591" y="9440854"/>
            <a:ext cx="2949420" cy="496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317" tIns="44159" rIns="88317" bIns="4415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kumimoji="0" sz="1200">
                <a:latin typeface="산돌명조B" pitchFamily="18" charset="-127"/>
                <a:ea typeface="산돌명조B" pitchFamily="18" charset="-127"/>
                <a:cs typeface="+mn-cs"/>
              </a:defRPr>
            </a:lvl1pPr>
          </a:lstStyle>
          <a:p>
            <a:pPr>
              <a:defRPr/>
            </a:pPr>
            <a:fld id="{9F8FE92B-D3A2-40F2-BAF6-14236133748A}" type="slidenum">
              <a:rPr lang="ko-KR" altLang="en-US">
                <a:latin typeface="Malgun Gothic" panose="020B0503020000020004" pitchFamily="34" charset="-127"/>
                <a:ea typeface="Malgun Gothic" panose="020B0503020000020004" pitchFamily="34" charset="-127"/>
              </a:rPr>
              <a:pPr>
                <a:defRPr/>
              </a:pPr>
              <a:t>‹#›</a:t>
            </a:fld>
            <a:endParaRPr lang="en-US" altLang="ko-KR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956022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0"/>
            <a:ext cx="2949420" cy="496887"/>
          </a:xfrm>
          <a:prstGeom prst="rect">
            <a:avLst/>
          </a:prstGeom>
        </p:spPr>
        <p:txBody>
          <a:bodyPr vert="horz" lIns="95665" tIns="47833" rIns="95665" bIns="4783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4591" y="10"/>
            <a:ext cx="2949420" cy="496887"/>
          </a:xfrm>
          <a:prstGeom prst="rect">
            <a:avLst/>
          </a:prstGeom>
        </p:spPr>
        <p:txBody>
          <a:bodyPr vert="horz" lIns="95665" tIns="47833" rIns="95665" bIns="4783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7373005F-B3BC-4153-97E0-BA8A1EA8FD2D}" type="datetimeFigureOut">
              <a:rPr lang="ko-KR" altLang="en-US"/>
              <a:pPr>
                <a:defRPr/>
              </a:pPr>
              <a:t>2026-01-13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12788" y="746125"/>
            <a:ext cx="5380037" cy="3725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665" tIns="47833" rIns="95665" bIns="47833" rtlCol="0" anchor="ctr"/>
          <a:lstStyle/>
          <a:p>
            <a:pPr lv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884" y="4721226"/>
            <a:ext cx="5443850" cy="4471982"/>
          </a:xfrm>
          <a:prstGeom prst="rect">
            <a:avLst/>
          </a:prstGeom>
        </p:spPr>
        <p:txBody>
          <a:bodyPr vert="horz" lIns="95665" tIns="47833" rIns="95665" bIns="47833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40854"/>
            <a:ext cx="2949420" cy="496886"/>
          </a:xfrm>
          <a:prstGeom prst="rect">
            <a:avLst/>
          </a:prstGeom>
        </p:spPr>
        <p:txBody>
          <a:bodyPr vert="horz" lIns="95665" tIns="47833" rIns="95665" bIns="4783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4591" y="9440854"/>
            <a:ext cx="2949420" cy="496886"/>
          </a:xfrm>
          <a:prstGeom prst="rect">
            <a:avLst/>
          </a:prstGeom>
        </p:spPr>
        <p:txBody>
          <a:bodyPr vert="horz" lIns="95665" tIns="47833" rIns="95665" bIns="4783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6CDC8343-4FA3-482F-BC54-8AA15A7ADD9A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358402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1pPr>
    <a:lvl2pPr marL="457114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2pPr>
    <a:lvl3pPr marL="914226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3pPr>
    <a:lvl4pPr marL="1371341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4pPr>
    <a:lvl5pPr marL="1828454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맑은 고딕" pitchFamily="50" charset="-127"/>
        <a:ea typeface="맑은 고딕" pitchFamily="50" charset="-127"/>
        <a:cs typeface="+mn-cs"/>
      </a:defRPr>
    </a:lvl5pPr>
    <a:lvl6pPr marL="2285567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680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6908" algn="l" defTabSz="914226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/>
          <p:cNvSpPr>
            <a:spLocks noGrp="1"/>
          </p:cNvSpPr>
          <p:nvPr>
            <p:ph type="title" hasCustomPrompt="1"/>
          </p:nvPr>
        </p:nvSpPr>
        <p:spPr>
          <a:xfrm>
            <a:off x="367556" y="2299962"/>
            <a:ext cx="9144000" cy="720166"/>
          </a:xfrm>
          <a:prstGeom prst="rect">
            <a:avLst/>
          </a:prstGeom>
        </p:spPr>
        <p:txBody>
          <a:bodyPr lIns="91422" tIns="45712" rIns="91422" bIns="107980" anchor="b"/>
          <a:lstStyle>
            <a:lvl1pPr algn="ctr">
              <a:defRPr sz="2800" b="1" baseline="0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6392867" y="4654273"/>
            <a:ext cx="3103975" cy="468109"/>
          </a:xfrm>
          <a:prstGeom prst="rect">
            <a:avLst/>
          </a:prstGeom>
        </p:spPr>
        <p:txBody>
          <a:bodyPr lIns="91422" tIns="45712" rIns="91422" bIns="45712" anchor="b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부서 및 성명을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12" hasCustomPrompt="1"/>
          </p:nvPr>
        </p:nvSpPr>
        <p:spPr>
          <a:xfrm>
            <a:off x="6392867" y="5122374"/>
            <a:ext cx="3103975" cy="396091"/>
          </a:xfrm>
          <a:prstGeom prst="rect">
            <a:avLst/>
          </a:prstGeom>
        </p:spPr>
        <p:txBody>
          <a:bodyPr lIns="91422" tIns="45712" rIns="91422" bIns="45712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날짜를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Rectangle 26"/>
          <p:cNvSpPr>
            <a:spLocks noChangeArrowheads="1"/>
          </p:cNvSpPr>
          <p:nvPr userDrawn="1"/>
        </p:nvSpPr>
        <p:spPr bwMode="auto">
          <a:xfrm>
            <a:off x="349250" y="2366816"/>
            <a:ext cx="8686800" cy="5335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22" tIns="45712" rIns="91422" bIns="45712" anchor="ctr"/>
          <a:lstStyle/>
          <a:p>
            <a:pPr algn="ctr" eaLnBrk="0" hangingPunct="0">
              <a:defRPr/>
            </a:pPr>
            <a:endParaRPr kumimoji="0" lang="ko-KR" altLang="en-US" sz="4400" b="0" i="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grpSp>
        <p:nvGrpSpPr>
          <p:cNvPr id="48" name="그룹 47"/>
          <p:cNvGrpSpPr/>
          <p:nvPr userDrawn="1"/>
        </p:nvGrpSpPr>
        <p:grpSpPr>
          <a:xfrm>
            <a:off x="363114" y="2556430"/>
            <a:ext cx="9149333" cy="500179"/>
            <a:chOff x="363112" y="2555834"/>
            <a:chExt cx="9149333" cy="500063"/>
          </a:xfrm>
        </p:grpSpPr>
        <p:sp>
          <p:nvSpPr>
            <p:cNvPr id="45" name="Line 28"/>
            <p:cNvSpPr>
              <a:spLocks noChangeShapeType="1"/>
            </p:cNvSpPr>
            <p:nvPr userDrawn="1"/>
          </p:nvSpPr>
          <p:spPr bwMode="auto">
            <a:xfrm>
              <a:off x="363112" y="3013034"/>
              <a:ext cx="9067800" cy="0"/>
            </a:xfrm>
            <a:prstGeom prst="line">
              <a:avLst/>
            </a:prstGeom>
            <a:noFill/>
            <a:ln w="1905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6" name="Line 29"/>
            <p:cNvSpPr>
              <a:spLocks noChangeShapeType="1"/>
            </p:cNvSpPr>
            <p:nvPr userDrawn="1"/>
          </p:nvSpPr>
          <p:spPr bwMode="auto">
            <a:xfrm>
              <a:off x="363112" y="3055897"/>
              <a:ext cx="2524126" cy="0"/>
            </a:xfrm>
            <a:prstGeom prst="line">
              <a:avLst/>
            </a:prstGeom>
            <a:noFill/>
            <a:ln w="7620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7" name="Rectangle 30"/>
            <p:cNvSpPr>
              <a:spLocks noChangeArrowheads="1"/>
            </p:cNvSpPr>
            <p:nvPr userDrawn="1"/>
          </p:nvSpPr>
          <p:spPr bwMode="auto">
            <a:xfrm>
              <a:off x="9131445" y="2555834"/>
              <a:ext cx="381000" cy="457200"/>
            </a:xfrm>
            <a:prstGeom prst="rect">
              <a:avLst/>
            </a:prstGeom>
            <a:solidFill>
              <a:srgbClr val="336699"/>
            </a:solidFill>
            <a:ln w="952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2400" b="0" i="0" dirty="0">
                <a:solidFill>
                  <a:srgbClr val="336699"/>
                </a:solidFill>
                <a:latin typeface="Arial Narrow" panose="020B0604020202020204" pitchFamily="34" charset="0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49" name="Rectangle 31"/>
          <p:cNvSpPr>
            <a:spLocks noChangeArrowheads="1"/>
          </p:cNvSpPr>
          <p:nvPr userDrawn="1"/>
        </p:nvSpPr>
        <p:spPr bwMode="auto">
          <a:xfrm>
            <a:off x="-1975" y="1391"/>
            <a:ext cx="72000" cy="6742377"/>
          </a:xfrm>
          <a:prstGeom prst="rect">
            <a:avLst/>
          </a:prstGeom>
          <a:solidFill>
            <a:srgbClr val="1F497D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91422" tIns="45712" rIns="91422" bIns="45712" anchor="ctr"/>
          <a:lstStyle/>
          <a:p>
            <a:pPr algn="ctr" eaLnBrk="0" hangingPunct="0">
              <a:defRPr/>
            </a:pPr>
            <a:endParaRPr kumimoji="0" lang="ko-KR" altLang="en-US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sp>
        <p:nvSpPr>
          <p:cNvPr id="50" name="순서도: 데이터 49"/>
          <p:cNvSpPr/>
          <p:nvPr userDrawn="1"/>
        </p:nvSpPr>
        <p:spPr bwMode="auto">
          <a:xfrm rot="5400000" flipV="1">
            <a:off x="-303037" y="6504708"/>
            <a:ext cx="675618" cy="70505"/>
          </a:xfrm>
          <a:prstGeom prst="flowChartInputOutput">
            <a:avLst/>
          </a:prstGeom>
          <a:solidFill>
            <a:srgbClr val="FF66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lIns="91422" tIns="45712" rIns="91422" bIns="45712" anchor="ctr"/>
          <a:lstStyle/>
          <a:p>
            <a:pPr marL="301568" indent="-301568" algn="ctr" defTabSz="801536">
              <a:defRPr/>
            </a:pPr>
            <a:endParaRPr kumimoji="0" lang="ko-KR" altLang="en-US" sz="900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grpSp>
        <p:nvGrpSpPr>
          <p:cNvPr id="51" name="그룹 50"/>
          <p:cNvGrpSpPr/>
          <p:nvPr userDrawn="1"/>
        </p:nvGrpSpPr>
        <p:grpSpPr>
          <a:xfrm>
            <a:off x="-477" y="178"/>
            <a:ext cx="70505" cy="681173"/>
            <a:chOff x="777762" y="892344"/>
            <a:chExt cx="68400" cy="653400"/>
          </a:xfrm>
        </p:grpSpPr>
        <p:sp>
          <p:nvSpPr>
            <p:cNvPr id="52" name="순서도: 데이터 51"/>
            <p:cNvSpPr/>
            <p:nvPr userDrawn="1"/>
          </p:nvSpPr>
          <p:spPr bwMode="auto">
            <a:xfrm rot="5400000" flipV="1">
              <a:off x="487926" y="1187508"/>
              <a:ext cx="648072" cy="68400"/>
            </a:xfrm>
            <a:prstGeom prst="flowChartInputOutpu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568" indent="-301568" algn="ctr" defTabSz="801536">
                <a:defRPr/>
              </a:pPr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 userDrawn="1"/>
          </p:nvSpPr>
          <p:spPr bwMode="auto">
            <a:xfrm>
              <a:off x="777762" y="892344"/>
              <a:ext cx="68400" cy="230832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568" lvl="0" indent="-301568" algn="ctr" defTabSz="801536"/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27" name="TextBox 26"/>
          <p:cNvSpPr txBox="1"/>
          <p:nvPr userDrawn="1"/>
        </p:nvSpPr>
        <p:spPr>
          <a:xfrm>
            <a:off x="291535" y="6496655"/>
            <a:ext cx="3400253" cy="246205"/>
          </a:xfrm>
          <a:prstGeom prst="rect">
            <a:avLst/>
          </a:prstGeom>
          <a:noFill/>
        </p:spPr>
        <p:txBody>
          <a:bodyPr wrap="none" lIns="91422" tIns="45712" rIns="91422" bIns="45712" rtlCol="0">
            <a:spAutoFit/>
          </a:bodyPr>
          <a:lstStyle/>
          <a:p>
            <a:r>
              <a:rPr lang="en-US" altLang="ko-KR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Creative Solution</a:t>
            </a:r>
            <a:r>
              <a:rPr lang="en-US" altLang="ko-KR" sz="1000" b="0" i="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  <a:ea typeface="+mn-ea"/>
              </a:rPr>
              <a:t> Company with Advanced Technology</a:t>
            </a:r>
            <a:endParaRPr lang="ko-KR" altLang="en-US" sz="1000" b="0" i="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  <a:ea typeface="+mn-ea"/>
            </a:endParaRPr>
          </a:p>
        </p:txBody>
      </p:sp>
      <p:pic>
        <p:nvPicPr>
          <p:cNvPr id="17" name="그림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74" y="39654"/>
            <a:ext cx="2338164" cy="57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7000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텍스트 개체 틀 14"/>
          <p:cNvSpPr>
            <a:spLocks noGrp="1"/>
          </p:cNvSpPr>
          <p:nvPr>
            <p:ph type="body" sz="quarter" idx="14"/>
          </p:nvPr>
        </p:nvSpPr>
        <p:spPr>
          <a:xfrm>
            <a:off x="368061" y="548889"/>
            <a:ext cx="9144000" cy="720166"/>
          </a:xfrm>
          <a:prstGeom prst="rect">
            <a:avLst/>
          </a:prstGeom>
        </p:spPr>
        <p:txBody>
          <a:bodyPr lIns="91434" tIns="107993" rIns="91434" bIns="45718"/>
          <a:lstStyle>
            <a:lvl1pPr marL="0" indent="0" latinLnBrk="0">
              <a:defRPr sz="1600" b="0">
                <a:latin typeface="Arial Narrow" pitchFamily="34" charset="0"/>
                <a:ea typeface="+mn-ea"/>
              </a:defRPr>
            </a:lvl1pPr>
          </a:lstStyle>
          <a:p>
            <a:pPr lvl="0"/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68061" y="72555"/>
            <a:ext cx="9144000" cy="432379"/>
          </a:xfrm>
          <a:prstGeom prst="rect">
            <a:avLst/>
          </a:prstGeom>
        </p:spPr>
        <p:txBody>
          <a:bodyPr lIns="91434" tIns="45718" rIns="91434" bIns="107993" anchor="ctr">
            <a:noAutofit/>
          </a:bodyPr>
          <a:lstStyle>
            <a:lvl1pPr>
              <a:defRPr sz="1800" b="1" baseline="0">
                <a:latin typeface="Arial Narrow" pitchFamily="34" charset="0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7" name="TextBox 6"/>
          <p:cNvSpPr txBox="1"/>
          <p:nvPr userDrawn="1"/>
        </p:nvSpPr>
        <p:spPr>
          <a:xfrm>
            <a:off x="4673435" y="6526857"/>
            <a:ext cx="540000" cy="246217"/>
          </a:xfrm>
          <a:prstGeom prst="rect">
            <a:avLst/>
          </a:prstGeom>
          <a:noFill/>
        </p:spPr>
        <p:txBody>
          <a:bodyPr wrap="square" lIns="91434" tIns="45718" rIns="91434" bIns="45718" rtlCol="0">
            <a:spAutoFit/>
          </a:bodyPr>
          <a:lstStyle/>
          <a:p>
            <a:pPr algn="ctr"/>
            <a:fld id="{744DFDC7-34C2-4DB1-8258-67A517DCDBFB}" type="slidenum">
              <a:rPr lang="ko-KR" altLang="en-US" sz="1000" smtClean="0">
                <a:solidFill>
                  <a:prstClr val="black"/>
                </a:solidFill>
                <a:latin typeface="Arial Narrow" pitchFamily="34" charset="0"/>
                <a:ea typeface="맑은 고딕" pitchFamily="50" charset="-127"/>
              </a:rPr>
              <a:pPr algn="ctr"/>
              <a:t>‹#›</a:t>
            </a:fld>
            <a:endParaRPr lang="ko-KR" altLang="en-US" sz="1000" dirty="0">
              <a:solidFill>
                <a:prstClr val="black"/>
              </a:solidFill>
              <a:latin typeface="Arial Narrow" pitchFamily="34" charset="0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3395817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1"/>
          <p:cNvSpPr>
            <a:spLocks noGrp="1"/>
          </p:cNvSpPr>
          <p:nvPr>
            <p:ph type="title" hasCustomPrompt="1"/>
          </p:nvPr>
        </p:nvSpPr>
        <p:spPr>
          <a:xfrm>
            <a:off x="367553" y="2299962"/>
            <a:ext cx="9144000" cy="720166"/>
          </a:xfrm>
          <a:prstGeom prst="rect">
            <a:avLst/>
          </a:prstGeom>
        </p:spPr>
        <p:txBody>
          <a:bodyPr bIns="108000" anchor="b"/>
          <a:lstStyle>
            <a:lvl1pPr algn="ctr">
              <a:defRPr sz="2800" b="1" baseline="0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ko-KR" altLang="en-US" dirty="0"/>
              <a:t>제목을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6392862" y="4654273"/>
            <a:ext cx="3103975" cy="468109"/>
          </a:xfrm>
          <a:prstGeom prst="rect">
            <a:avLst/>
          </a:prstGeom>
        </p:spPr>
        <p:txBody>
          <a:bodyPr anchor="b"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부서 및 성명을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23" name="텍스트 개체 틀 22"/>
          <p:cNvSpPr>
            <a:spLocks noGrp="1"/>
          </p:cNvSpPr>
          <p:nvPr>
            <p:ph type="body" sz="quarter" idx="12" hasCustomPrompt="1"/>
          </p:nvPr>
        </p:nvSpPr>
        <p:spPr>
          <a:xfrm>
            <a:off x="6392862" y="5122374"/>
            <a:ext cx="3103975" cy="396091"/>
          </a:xfrm>
          <a:prstGeom prst="rect">
            <a:avLst/>
          </a:prstGeom>
        </p:spPr>
        <p:txBody>
          <a:bodyPr/>
          <a:lstStyle>
            <a:lvl1pPr algn="r">
              <a:buNone/>
              <a:defRPr sz="1400" b="0" i="0" baseline="0">
                <a:latin typeface="Arial Narrow" panose="020B0604020202020204" pitchFamily="34" charset="0"/>
                <a:ea typeface="맑은 고딕" pitchFamily="50" charset="-127"/>
              </a:defRPr>
            </a:lvl1pPr>
          </a:lstStyle>
          <a:p>
            <a:pPr lvl="0"/>
            <a:r>
              <a:rPr lang="ko-KR" altLang="en-US" dirty="0"/>
              <a:t>날짜를 입력하세요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3" name="Rectangle 26"/>
          <p:cNvSpPr>
            <a:spLocks noChangeArrowheads="1"/>
          </p:cNvSpPr>
          <p:nvPr userDrawn="1"/>
        </p:nvSpPr>
        <p:spPr bwMode="auto">
          <a:xfrm>
            <a:off x="349250" y="2366816"/>
            <a:ext cx="8686800" cy="5335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 eaLnBrk="0" hangingPunct="0">
              <a:defRPr/>
            </a:pPr>
            <a:endParaRPr kumimoji="0" lang="ko-KR" altLang="en-US" sz="4400" b="0" i="0" dirty="0">
              <a:solidFill>
                <a:schemeClr val="tx1"/>
              </a:solidFill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grpSp>
        <p:nvGrpSpPr>
          <p:cNvPr id="48" name="그룹 47"/>
          <p:cNvGrpSpPr/>
          <p:nvPr userDrawn="1"/>
        </p:nvGrpSpPr>
        <p:grpSpPr>
          <a:xfrm>
            <a:off x="363114" y="2556427"/>
            <a:ext cx="9149333" cy="500179"/>
            <a:chOff x="363112" y="2555834"/>
            <a:chExt cx="9149333" cy="500063"/>
          </a:xfrm>
        </p:grpSpPr>
        <p:sp>
          <p:nvSpPr>
            <p:cNvPr id="45" name="Line 28"/>
            <p:cNvSpPr>
              <a:spLocks noChangeShapeType="1"/>
            </p:cNvSpPr>
            <p:nvPr userDrawn="1"/>
          </p:nvSpPr>
          <p:spPr bwMode="auto">
            <a:xfrm>
              <a:off x="363112" y="3013034"/>
              <a:ext cx="9067800" cy="0"/>
            </a:xfrm>
            <a:prstGeom prst="line">
              <a:avLst/>
            </a:prstGeom>
            <a:noFill/>
            <a:ln w="1905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6" name="Line 29"/>
            <p:cNvSpPr>
              <a:spLocks noChangeShapeType="1"/>
            </p:cNvSpPr>
            <p:nvPr userDrawn="1"/>
          </p:nvSpPr>
          <p:spPr bwMode="auto">
            <a:xfrm>
              <a:off x="363112" y="3055897"/>
              <a:ext cx="2524126" cy="0"/>
            </a:xfrm>
            <a:prstGeom prst="line">
              <a:avLst/>
            </a:prstGeom>
            <a:noFill/>
            <a:ln w="76200">
              <a:solidFill>
                <a:srgbClr val="336699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 algn="ctr" eaLnBrk="0" hangingPunct="0">
                <a:defRPr/>
              </a:pPr>
              <a:endParaRPr kumimoji="0" lang="ko-KR" altLang="en-US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47" name="Rectangle 30"/>
            <p:cNvSpPr>
              <a:spLocks noChangeArrowheads="1"/>
            </p:cNvSpPr>
            <p:nvPr userDrawn="1"/>
          </p:nvSpPr>
          <p:spPr bwMode="auto">
            <a:xfrm>
              <a:off x="9131445" y="2555834"/>
              <a:ext cx="381000" cy="457200"/>
            </a:xfrm>
            <a:prstGeom prst="rect">
              <a:avLst/>
            </a:prstGeom>
            <a:solidFill>
              <a:srgbClr val="336699"/>
            </a:solidFill>
            <a:ln w="9525">
              <a:solidFill>
                <a:srgbClr val="336699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 latinLnBrk="0">
                <a:defRPr/>
              </a:pPr>
              <a:endParaRPr kumimoji="0" lang="ko-KR" altLang="en-US" sz="2400" b="0" i="0" dirty="0">
                <a:solidFill>
                  <a:srgbClr val="336699"/>
                </a:solidFill>
                <a:latin typeface="Arial Narrow" panose="020B0604020202020204" pitchFamily="34" charset="0"/>
                <a:ea typeface="Malgun Gothic" panose="020B0503020000020004" pitchFamily="34" charset="-127"/>
                <a:cs typeface="+mn-cs"/>
              </a:endParaRPr>
            </a:p>
          </p:txBody>
        </p:sp>
      </p:grpSp>
      <p:sp>
        <p:nvSpPr>
          <p:cNvPr id="49" name="Rectangle 31"/>
          <p:cNvSpPr>
            <a:spLocks noChangeArrowheads="1"/>
          </p:cNvSpPr>
          <p:nvPr userDrawn="1"/>
        </p:nvSpPr>
        <p:spPr bwMode="auto">
          <a:xfrm>
            <a:off x="-1975" y="1391"/>
            <a:ext cx="72000" cy="6742377"/>
          </a:xfrm>
          <a:prstGeom prst="rect">
            <a:avLst/>
          </a:prstGeom>
          <a:solidFill>
            <a:srgbClr val="1F497D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eaLnBrk="0" hangingPunct="0">
              <a:defRPr/>
            </a:pPr>
            <a:endParaRPr kumimoji="0" lang="ko-KR" altLang="en-US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sp>
        <p:nvSpPr>
          <p:cNvPr id="50" name="순서도: 데이터 49"/>
          <p:cNvSpPr/>
          <p:nvPr userDrawn="1"/>
        </p:nvSpPr>
        <p:spPr bwMode="auto">
          <a:xfrm rot="5400000" flipV="1">
            <a:off x="-303037" y="6504705"/>
            <a:ext cx="675618" cy="70505"/>
          </a:xfrm>
          <a:prstGeom prst="flowChartInputOutput">
            <a:avLst/>
          </a:prstGeom>
          <a:solidFill>
            <a:srgbClr val="FF66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marL="301625" indent="-301625" algn="ctr" defTabSz="801688">
              <a:defRPr/>
            </a:pPr>
            <a:endParaRPr kumimoji="0" lang="ko-KR" altLang="en-US" sz="900" b="0" i="0" dirty="0">
              <a:latin typeface="Malgun Gothic" panose="020B0503020000020004" pitchFamily="34" charset="-127"/>
              <a:ea typeface="Malgun Gothic" panose="020B0503020000020004" pitchFamily="34" charset="-127"/>
              <a:cs typeface="+mn-cs"/>
            </a:endParaRPr>
          </a:p>
        </p:txBody>
      </p:sp>
      <p:grpSp>
        <p:nvGrpSpPr>
          <p:cNvPr id="51" name="그룹 50"/>
          <p:cNvGrpSpPr/>
          <p:nvPr userDrawn="1"/>
        </p:nvGrpSpPr>
        <p:grpSpPr>
          <a:xfrm>
            <a:off x="-480" y="175"/>
            <a:ext cx="70505" cy="681173"/>
            <a:chOff x="777762" y="892344"/>
            <a:chExt cx="68400" cy="653400"/>
          </a:xfrm>
        </p:grpSpPr>
        <p:sp>
          <p:nvSpPr>
            <p:cNvPr id="52" name="순서도: 데이터 51"/>
            <p:cNvSpPr/>
            <p:nvPr userDrawn="1"/>
          </p:nvSpPr>
          <p:spPr bwMode="auto">
            <a:xfrm rot="5400000" flipV="1">
              <a:off x="487926" y="1187508"/>
              <a:ext cx="648072" cy="68400"/>
            </a:xfrm>
            <a:prstGeom prst="flowChartInputOutpu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625" indent="-301625" algn="ctr" defTabSz="801688">
                <a:defRPr/>
              </a:pPr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  <p:sp>
          <p:nvSpPr>
            <p:cNvPr id="53" name="직사각형 52"/>
            <p:cNvSpPr/>
            <p:nvPr userDrawn="1"/>
          </p:nvSpPr>
          <p:spPr bwMode="auto">
            <a:xfrm>
              <a:off x="777762" y="892344"/>
              <a:ext cx="68400" cy="230832"/>
            </a:xfrm>
            <a:prstGeom prst="rect">
              <a:avLst/>
            </a:prstGeom>
            <a:solidFill>
              <a:srgbClr val="00B050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anchor="ctr"/>
            <a:lstStyle/>
            <a:p>
              <a:pPr marL="301625" lvl="0" indent="-301625" algn="ctr" defTabSz="801688"/>
              <a:endParaRPr kumimoji="0" lang="ko-KR" altLang="en-US" sz="900" b="0" i="0" dirty="0">
                <a:latin typeface="Malgun Gothic" panose="020B0503020000020004" pitchFamily="34" charset="-127"/>
                <a:ea typeface="Malgun Gothic" panose="020B0503020000020004" pitchFamily="34" charset="-127"/>
                <a:cs typeface="+mn-cs"/>
              </a:endParaRPr>
            </a:p>
          </p:txBody>
        </p:sp>
      </p:grpSp>
      <p:pic>
        <p:nvPicPr>
          <p:cNvPr id="17" name="그림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474" y="39654"/>
            <a:ext cx="2338164" cy="57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6468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theme" Target="../theme/theme2.xml"/><Relationship Id="rId4" Type="http://schemas.openxmlformats.org/officeDocument/2006/relationships/vmlDrawing" Target="../drawings/vmlDrawing1.v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2.emf"/><Relationship Id="rId8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82558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</p:sldLayoutIdLst>
  <p:hf hdr="0" ftr="0" dt="0"/>
  <p:txStyles>
    <p:titleStyle>
      <a:lvl1pPr algn="ctr" defTabSz="914226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35" indent="-342835" algn="l" defTabSz="914226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09" indent="-285696" algn="l" defTabSz="914226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84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599897" indent="-228557" algn="l" defTabSz="914226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010" indent="-228557" algn="l" defTabSz="914226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124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37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51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62" indent="-228557" algn="l" defTabSz="914226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1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26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41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5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67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80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94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908" algn="l" defTabSz="91422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개체 1" hidden="1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588" y="1590"/>
          <a:ext cx="1588" cy="158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438"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90"/>
                        <a:ext cx="1588" cy="1589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8" name="직선 연결선 7"/>
          <p:cNvCxnSpPr/>
          <p:nvPr/>
        </p:nvCxnSpPr>
        <p:spPr>
          <a:xfrm>
            <a:off x="267442" y="625025"/>
            <a:ext cx="9371116" cy="0"/>
          </a:xfrm>
          <a:prstGeom prst="line">
            <a:avLst/>
          </a:prstGeom>
          <a:noFill/>
          <a:ln w="28575">
            <a:solidFill>
              <a:schemeClr val="tx2"/>
            </a:solidFill>
            <a:round/>
            <a:headEnd/>
            <a:tailEnd/>
          </a:ln>
          <a:effectLst/>
        </p:spPr>
      </p:cxnSp>
      <p:cxnSp>
        <p:nvCxnSpPr>
          <p:cNvPr id="5" name="직선 연결선 4"/>
          <p:cNvCxnSpPr/>
          <p:nvPr/>
        </p:nvCxnSpPr>
        <p:spPr>
          <a:xfrm>
            <a:off x="267442" y="6490359"/>
            <a:ext cx="9371116" cy="0"/>
          </a:xfrm>
          <a:prstGeom prst="line">
            <a:avLst/>
          </a:pr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181046" y="6544793"/>
            <a:ext cx="3566990" cy="246217"/>
          </a:xfrm>
          <a:prstGeom prst="rect">
            <a:avLst/>
          </a:prstGeom>
          <a:noFill/>
        </p:spPr>
        <p:txBody>
          <a:bodyPr wrap="none" lIns="91434" tIns="45718" rIns="91434" bIns="45718" rtlCol="0">
            <a:spAutoFit/>
          </a:bodyPr>
          <a:lstStyle/>
          <a:p>
            <a:r>
              <a:rPr lang="en-US" altLang="ko-KR" sz="1000" b="1" dirty="0">
                <a:solidFill>
                  <a:prstClr val="black">
                    <a:lumMod val="75000"/>
                    <a:lumOff val="25000"/>
                  </a:prstClr>
                </a:solidFill>
                <a:latin typeface="맑은 고딕"/>
                <a:ea typeface="맑은 고딕"/>
              </a:rPr>
              <a:t>Creative Solution Company with Advanced Technology</a:t>
            </a:r>
            <a:endParaRPr lang="ko-KR" altLang="en-US" sz="1000" b="1" dirty="0">
              <a:solidFill>
                <a:prstClr val="black">
                  <a:lumMod val="75000"/>
                  <a:lumOff val="25000"/>
                </a:prstClr>
              </a:solidFill>
              <a:latin typeface="맑은 고딕"/>
              <a:ea typeface="맑은 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xmlns="" id="{14097E82-5FAE-F344-88FE-4D4C2D171DFB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288" y="6513783"/>
            <a:ext cx="1244510" cy="308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840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6" r:id="rId1"/>
    <p:sldLayoutId id="2147483868" r:id="rId2"/>
  </p:sldLayoutIdLst>
  <p:timing>
    <p:tnLst>
      <p:par>
        <p:cTn id="1" dur="indefinite" restart="never" nodeType="tmRoot"/>
      </p:par>
    </p:tnLst>
  </p:timing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1800" kern="1200" baseline="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171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342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513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684" algn="l" rtl="0" fontAlgn="base" latinLnBrk="1">
        <a:spcBef>
          <a:spcPct val="0"/>
        </a:spcBef>
        <a:spcAft>
          <a:spcPct val="0"/>
        </a:spcAft>
        <a:defRPr sz="1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879" indent="-342879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defRPr sz="1800" b="1" kern="1200" baseline="0">
          <a:solidFill>
            <a:schemeClr val="tx1"/>
          </a:solidFill>
          <a:latin typeface="Arial" pitchFamily="34" charset="0"/>
          <a:ea typeface="맑은 고딕" pitchFamily="50" charset="-127"/>
          <a:cs typeface="+mn-cs"/>
        </a:defRPr>
      </a:lvl1pPr>
      <a:lvl2pPr marL="742903" indent="-285732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28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99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70" indent="-228586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41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12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83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54" indent="-228586" algn="l" defTabSz="914342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1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2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13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84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55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26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98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69" algn="l" defTabSz="914342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10312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7365D"/>
                </a:solidFill>
                <a:latin typeface="맑은 고딕"/>
              </a:rPr>
              <a:t>SX3K 코팅 섹션 분석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>
                <a:solidFill>
                  <a:srgbClr val="0070C0"/>
                </a:solidFill>
                <a:latin typeface="맑은 고딕"/>
              </a:rPr>
              <a:t>확장 도포 조건 적용에 따른 단면 분석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120640"/>
            <a:ext cx="8961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000000"/>
                </a:solidFill>
                <a:latin typeface="맑은 고딕"/>
              </a:rPr>
              <a:t>EV생산기술팀</a:t>
            </a:r>
          </a:p>
          <a:p>
            <a:pPr algn="ctr"/>
            <a:r>
              <a:rPr sz="1200">
                <a:solidFill>
                  <a:srgbClr val="000000"/>
                </a:solidFill>
                <a:latin typeface="맑은 고딕"/>
              </a:rPr>
              <a:t>2026-08-13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시험 개요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시험 목적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34440"/>
            <a:ext cx="8961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본 SX3K 라인의 코팅 도포 조건은 확립된 도포 Bar 기준을 적용하여 진행되었으며,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본 자료는 해당 조건으로 도포된 제품의 단면 분석을 통해 코팅 품질에 이상이 없음을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확인하기 위해 작성되었습니다.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210312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시료 정보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423160"/>
          <a:ext cx="896112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6766560"/>
              </a:tblGrid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제품명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SX3K 모델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시료 수량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TOP LH/RH, BOT LH/RH 4종 PCB 2SET 중 부위별 아래 수량 분석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맑은 고딕"/>
                        </a:rPr>
                        <a:t>측정 포인트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C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맑은 고딕"/>
                        </a:rPr>
                        <a:t>Sensing Tab 6p / Fuse 6p / Connector 4p / NTC 3p (부위별 1p씩, TOP·RH 제품 분석)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84048" y="379476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시험 방법 및 시험기관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■ 시험 방법: 의뢰자가 제시한 부위의 단면에서 컨포멀 코팅 두께 분석 (raw data 제출)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시험기관: (주)알에스피 (RSP)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견적번호: RSP26-1067 (2026-07-16 발행)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" y="507492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검토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394960"/>
            <a:ext cx="8961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① 부위별(Sensing Tab / Fuse / Connector / NTC) 코팅 단면 두께 분포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② Connector 부위 UV Dose 구간별 경화율(%) 측정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Sensing Tab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80" cy="2240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/>
                <a:gridCol w="548640"/>
                <a:gridCol w="982980"/>
                <a:gridCol w="982980"/>
                <a:gridCol w="982980"/>
                <a:gridCol w="98298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C60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1225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1174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999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C24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1072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1065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1006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1318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1125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1278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통계 요약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3886200"/>
          <a:ext cx="521207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310335"/>
                <a:gridCol w="1310335"/>
                <a:gridCol w="131124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Min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Max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C60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1292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1118.6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C24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1101.8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1006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1173.4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Sensing Tab 전체 24개 측정 포인트: 940~1350um 범위에서 안정적으로 분포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Sensing Tab 외관 사진
(자리 예약)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Sensing Tab 단면 사진
(자리 예약)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Fuse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79" cy="22402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1520"/>
                <a:gridCol w="548640"/>
                <a:gridCol w="1310335"/>
                <a:gridCol w="1310335"/>
                <a:gridCol w="1311249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F60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920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F24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965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1052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1011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1044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992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1009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879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971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규격별 통계 요약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3886200"/>
          <a:ext cx="5212079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310335"/>
                <a:gridCol w="1310335"/>
                <a:gridCol w="131124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규격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Min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Max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F60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910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994.5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F24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1052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958.0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미표기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879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1044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966.7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973.1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84048" y="54864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Fuse 전체 18개 측정 포인트: 836~1138um 범위에서 안정적으로 분포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Fuse 외관 사진
(자리 예약)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Fuse 단면 사진
(자리 예약)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Connector 부위 코팅 단면 분석 및 경화율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단면 두께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80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1143000"/>
                <a:gridCol w="1143000"/>
                <a:gridCol w="1143000"/>
                <a:gridCol w="114300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1145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1119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1191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1204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1063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1171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1237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1321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913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536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608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4048" y="292608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909090"/>
                </a:solidFill>
                <a:latin typeface="맑은 고딕"/>
              </a:rPr>
              <a:t>■ 전체 16개 포인트: Min 536 / Max 1321 / AVG 1102.9um</a:t>
            </a:r>
          </a:p>
          <a:p>
            <a:r>
              <a:rPr sz="850">
                <a:solidFill>
                  <a:srgbClr val="909090"/>
                </a:solidFill>
                <a:latin typeface="맑은 고딕"/>
              </a:rPr>
              <a:t>■ 기존 샘플 #1(689/748/986/954)은 편차 과다로 분석 대상에서 제외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35661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UV Dose 구간별 경화율(%)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3886200"/>
          <a:ext cx="5212079" cy="1755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218895"/>
                <a:gridCol w="1218895"/>
                <a:gridCol w="121980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Dose 구간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①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②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AVG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4000-5000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76.3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5000-6000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86.0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85.8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6000-7000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86.3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88.5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87.4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7000-8000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90.1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91.6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90.85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</a:rPr>
                        <a:t>8000-9000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95.3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96.4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</a:rPr>
                        <a:t>95.85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5852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909090"/>
                </a:solidFill>
                <a:latin typeface="맑은 고딕"/>
              </a:rPr>
              <a:t>■ UV Dose 증가에 따라 경화율이 76.3%→95.85%로 상승하는 경향 확인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Connector 외관 사진
(자리 예약)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Connector 단면 사진
(자리 예약)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NTC 부위 코팅 단면 분석 결과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단면 두께 측정 결과 (단위: um)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84048" y="1234440"/>
          <a:ext cx="5212078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1524304"/>
                <a:gridCol w="1524304"/>
                <a:gridCol w="1523390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샘플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154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203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</a:rPr>
                        <a:t>#3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123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</a:rPr>
                        <a:t>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84048" y="265176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solidFill>
                  <a:srgbClr val="000000"/>
                </a:solidFill>
                <a:latin typeface="맑은 고딕"/>
              </a:rPr>
              <a:t>■ NTC 전체 9개 포인트: Min 77 / Max 205 / AVG 130.7um</a:t>
            </a:r>
          </a:p>
          <a:p>
            <a:r>
              <a:rPr sz="900">
                <a:solidFill>
                  <a:srgbClr val="000000"/>
                </a:solidFill>
                <a:latin typeface="맑은 고딕"/>
              </a:rPr>
              <a:t>■ NTC는 타 부위 대비 코팅 대상 면적이 작아 절대 두께값이 낮게 형성되는 경향</a:t>
            </a:r>
          </a:p>
          <a:p>
            <a:r>
              <a:rPr sz="900">
                <a:solidFill>
                  <a:srgbClr val="000000"/>
                </a:solidFill>
                <a:latin typeface="맑은 고딕"/>
              </a:rPr>
              <a:t>■ 샘플 간 편차(#1 154~203um, #2 77~86um, #3 87~205um)는 별도 확인 필요</a:t>
            </a:r>
          </a:p>
        </p:txBody>
      </p:sp>
      <p:sp>
        <p:nvSpPr>
          <p:cNvPr id="8" name="Rectangle 7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9" name="Rectangle 8"/>
          <p:cNvSpPr/>
          <p:nvPr/>
        </p:nvSpPr>
        <p:spPr>
          <a:xfrm>
            <a:off x="5733288" y="1344168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NTC 외관 사진
(자리 예약)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33288" y="3529584"/>
            <a:ext cx="3776472" cy="2048255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NTC 단면 사진
(자리 예약)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NTC 도포 방식 비교 (Manual vs 설비 자동 도포)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비교 배경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2344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00000"/>
                </a:solidFill>
                <a:latin typeface="맑은 고딕"/>
              </a:rPr>
              <a:t>NTC는 도포 방식에 따라 좌/우 형상 편차가 발생할 수 있어, Manual 도포와</a:t>
            </a:r>
          </a:p>
          <a:p>
            <a:r>
              <a:rPr sz="850">
                <a:solidFill>
                  <a:srgbClr val="000000"/>
                </a:solidFill>
                <a:latin typeface="맑은 고딕"/>
              </a:rPr>
              <a:t>설비 자동 도포의 단면 형상 균일도를 비교 검토함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78308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측정 결과 비교 (단위: um)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2103120"/>
          <a:ext cx="521208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457200"/>
                <a:gridCol w="960120"/>
                <a:gridCol w="960120"/>
                <a:gridCol w="960120"/>
                <a:gridCol w="96012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측정1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측정2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측정3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편차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>Manual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7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154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159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203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>49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7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86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E7F0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123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87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>118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>설비자동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422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527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119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>408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680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676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000000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000000"/>
                          </a:solidFill>
                          <a:latin typeface="맑은 고딕"/>
                        </a:rPr>
                        <a:t>551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84048" y="388620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평균 편차(Max-Min) 비교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4233672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00000"/>
                </a:solidFill>
                <a:latin typeface="맑은 고딕"/>
              </a:rPr>
              <a:t>Manual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35607" y="4206240"/>
            <a:ext cx="257462" cy="2743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66222" y="42336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070C0"/>
                </a:solidFill>
                <a:latin typeface="맑은 고딕"/>
              </a:rPr>
              <a:t>58.7um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4617720"/>
            <a:ext cx="960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rgbClr val="000000"/>
                </a:solidFill>
                <a:latin typeface="맑은 고딕"/>
              </a:rPr>
              <a:t>설비</a:t>
            </a:r>
          </a:p>
          <a:p>
            <a:r>
              <a:rPr sz="800">
                <a:solidFill>
                  <a:srgbClr val="000000"/>
                </a:solidFill>
                <a:latin typeface="맑은 고딕"/>
              </a:rPr>
              <a:t>자동도포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5607" y="4663440"/>
            <a:ext cx="2103120" cy="274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79" y="469087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C0504D"/>
                </a:solidFill>
                <a:latin typeface="맑은 고딕"/>
              </a:rPr>
              <a:t>479.5um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5166360"/>
            <a:ext cx="5212080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결론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5486400"/>
            <a:ext cx="5212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>
                <a:solidFill>
                  <a:srgbClr val="000000"/>
                </a:solidFill>
                <a:latin typeface="맑은 고딕"/>
              </a:rPr>
              <a:t>■ Manual 58.7um vs 설비 자동 479.5um — 설비가 약 8.2배 더 큰 편차</a:t>
            </a:r>
          </a:p>
          <a:p>
            <a:r>
              <a:rPr sz="850">
                <a:solidFill>
                  <a:srgbClr val="000000"/>
                </a:solidFill>
                <a:latin typeface="맑은 고딕"/>
              </a:rPr>
              <a:t>■ Manual 도포가 좌/우 균일도 측면에서 더 안정적, NTC 부위 Manual 도포 적용 권장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33288" y="914400"/>
            <a:ext cx="3776472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대표 시료 사진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3288" y="1344168"/>
            <a:ext cx="3776472" cy="2276856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Manual 도포 예시 사진
(자리 예약)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3288" y="3758184"/>
            <a:ext cx="3776472" cy="2276856"/>
          </a:xfrm>
          <a:prstGeom prst="rect">
            <a:avLst/>
          </a:prstGeom>
          <a:solidFill>
            <a:srgbClr val="F2F2F2"/>
          </a:solidFill>
          <a:ln w="12700">
            <a:solidFill>
              <a:srgbClr val="B0B0B0"/>
            </a:solidFill>
            <a:prstDash val="sysDot"/>
          </a:ln>
          <a:effectLst/>
        </p:spPr>
        <p:txBody>
          <a:bodyPr rtlCol="0" anchor="ctr" wrap="square"/>
          <a:lstStyle/>
          <a:p>
            <a:pPr algn="ctr"/>
            <a:r>
              <a:rPr sz="1000" b="0">
                <a:solidFill>
                  <a:srgbClr val="808080"/>
                </a:solidFill>
                <a:latin typeface="맑은 고딕"/>
              </a:rPr>
              <a:t>설비 자동 도포 예시 사진
(자리 예약)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97480" y="164592"/>
            <a:ext cx="67665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맑은 고딕"/>
              </a:rPr>
              <a:t>●  </a:t>
            </a:r>
            <a:r>
              <a:rPr sz="1700" b="1">
                <a:solidFill>
                  <a:srgbClr val="000000"/>
                </a:solidFill>
                <a:latin typeface="맑은 고딕"/>
              </a:rPr>
              <a:t>종합 결과 및 결론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" y="731520"/>
            <a:ext cx="9125712" cy="32004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468880"/>
            <a:ext cx="92811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84048" y="914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측정 결과 요약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9107424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49424"/>
              </a:tblGrid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부위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Min(um)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Max(um)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AVG(um)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17365D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Sensing Tab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940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1350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1131.2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Fuse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836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1138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973.1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Connector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536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1321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1102.9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</a:rPr>
                        <a:t>NTC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77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205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</a:rPr>
                        <a:t>130.7</a:t>
                      </a:r>
                    </a:p>
                  </a:txBody>
                  <a:tcPr anchor="ctr" marL="27432" marR="27432" marT="18288" marB="18288">
                    <a:lnL w="12700" cap="flat">
                      <a:solidFill>
                        <a:srgbClr val="000000"/>
                      </a:solidFill>
                    </a:lnL>
                    <a:lnR w="12700" cap="flat">
                      <a:solidFill>
                        <a:srgbClr val="000000"/>
                      </a:solidFill>
                    </a:lnR>
                    <a:lnT w="12700" cap="flat">
                      <a:solidFill>
                        <a:srgbClr val="000000"/>
                      </a:solidFill>
                    </a:lnT>
                    <a:lnB w="12700" cap="flat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84048" y="320040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결론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89611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1. 확립된 도포 Bar 기준을 적용하여 SX3K 코팅 진행 결과, Sensing Tab·Fuse·Connector·NTC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전 부위 단면 두께가 안정적인 범위 내에서 분포함을 확인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2. Connector 부위 UV Dose 구간별 경화율 측정 결과, Dose 증가에 따라 경화율이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점진적으로 상승(76.3%→95.85%)하며, 목표 Dose 구간(8000-9000)에서 95% 이상의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   안정적인 경화율 확보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3. 현재까지 확보된 데이터 기준으로 코팅 조건 확대 적용에 따른 품질 이상 없음 확인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/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4. NTC 부위는 샘플 간 편차(#1 154~203um, #2 77~86um, #3 87~205um)가 확인되어 원인 확인 권장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5852160"/>
            <a:ext cx="9107424" cy="292608"/>
          </a:xfrm>
          <a:prstGeom prst="rect">
            <a:avLst/>
          </a:prstGeom>
          <a:solidFill>
            <a:srgbClr val="17365D"/>
          </a:solidFill>
          <a:ln>
            <a:noFill/>
          </a:ln>
          <a:effectLst/>
        </p:spPr>
        <p:txBody>
          <a:bodyPr rtlCol="0" anchor="ctr" wrap="square" lIns="73152" tIns="0" bIns="0"/>
          <a:lstStyle/>
          <a:p>
            <a:pPr algn="l"/>
            <a:r>
              <a:rPr sz="1100" b="1">
                <a:solidFill>
                  <a:srgbClr val="FFFFFF"/>
                </a:solidFill>
                <a:latin typeface="맑은 고딕"/>
              </a:rPr>
              <a:t>▣ 향후 계획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000000"/>
                </a:solidFill>
                <a:latin typeface="맑은 고딕"/>
              </a:rPr>
              <a:t>■ 부위별 대표 시료 사진(외관/단면) 첨부하여 최종본 업데이트</a:t>
            </a:r>
          </a:p>
          <a:p>
            <a:r>
              <a:rPr sz="1000">
                <a:solidFill>
                  <a:srgbClr val="000000"/>
                </a:solidFill>
                <a:latin typeface="맑은 고딕"/>
              </a:rPr>
              <a:t>■ NTC 부위 샘플 간 편차 원인 확인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4_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12700">
          <a:solidFill>
            <a:schemeClr val="tx1"/>
          </a:solidFill>
        </a:ln>
      </a:spPr>
      <a:bodyPr rtlCol="0" anchor="ctr"/>
      <a:lstStyle>
        <a:defPPr marL="82550" indent="-82550" algn="ctr">
          <a:buFont typeface="Arial" pitchFamily="34" charset="0"/>
          <a:buChar char="•"/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rtlCol="0">
        <a:spAutoFit/>
      </a:bodyPr>
      <a:lstStyle>
        <a:defPPr>
          <a:defRPr sz="1400" smtClean="0">
            <a:latin typeface="+mn-ea"/>
            <a:ea typeface="+mn-ea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FFFFFF"/>
      </a:accent3>
      <a:accent4>
        <a:srgbClr val="000000"/>
      </a:accent4>
      <a:accent5>
        <a:srgbClr val="B2C1DB"/>
      </a:accent5>
      <a:accent6>
        <a:srgbClr val="AE4845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109874</TotalTime>
  <Words>484</Words>
  <Application>Microsoft Office PowerPoint</Application>
  <PresentationFormat>사용자 지정</PresentationFormat>
  <Paragraphs>130</Paragraphs>
  <Slides>5</Slides>
  <Notes>1</Notes>
  <HiddenSlides>0</HiddenSlides>
  <MMClips>0</MMClips>
  <ScaleCrop>false</ScaleCrop>
  <HeadingPairs>
    <vt:vector size="6" baseType="variant">
      <vt:variant>
        <vt:lpstr>테마</vt:lpstr>
      </vt:variant>
      <vt:variant>
        <vt:i4>2</vt:i4>
      </vt:variant>
      <vt:variant>
        <vt:lpstr>포함된 OLE 서버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디자인 사용자 지정</vt:lpstr>
      <vt:lpstr>4_Office 테마</vt:lpstr>
      <vt:lpstr>think-cell Slide</vt:lpstr>
      <vt:lpstr>워크시트</vt:lpstr>
      <vt:lpstr>JG EV VOLT SENSING PCB ASSY 센싱탭 솔더링 검증 결과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HMK</dc:creator>
  <cp:lastModifiedBy>user</cp:lastModifiedBy>
  <cp:revision>6745</cp:revision>
  <cp:lastPrinted>2025-03-12T07:54:27Z</cp:lastPrinted>
  <dcterms:created xsi:type="dcterms:W3CDTF">2007-11-12T08:47:06Z</dcterms:created>
  <dcterms:modified xsi:type="dcterms:W3CDTF">2026-01-13T04:36:18Z</dcterms:modified>
</cp:coreProperties>
</file>