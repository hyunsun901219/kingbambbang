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839" r:id="rId1"/>
    <p:sldMasterId id="2147483865" r:id="rId2"/>
  </p:sldMasterIdLst>
  <p:notesMasterIdLst>
    <p:notesMasterId r:id="rId8"/>
  </p:notesMasterIdLst>
  <p:handoutMasterIdLst>
    <p:handoutMasterId r:id="rId9"/>
  </p:handoutMasterIdLst>
  <p:sldIdLst>
    <p:sldId id="3691" r:id="rId14"/>
    <p:sldId id="3692" r:id="rId15"/>
    <p:sldId id="3693" r:id="rId16"/>
    <p:sldId id="3694" r:id="rId17"/>
    <p:sldId id="3695" r:id="rId18"/>
    <p:sldId id="3696" r:id="rId19"/>
    <p:sldId id="3697" r:id="rId20"/>
  </p:sldIdLst>
  <p:sldSz cx="9906000" cy="6859588"/>
  <p:notesSz cx="6805613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rgbClr val="00B0F0"/>
        </a:solidFill>
        <a:latin typeface="산돌명조B"/>
        <a:ea typeface="산돌명조B"/>
        <a:cs typeface="산돌명조B"/>
      </a:defRPr>
    </a:lvl1pPr>
    <a:lvl2pPr marL="457114" algn="l" rtl="0" fontAlgn="base" latinLnBrk="1">
      <a:spcBef>
        <a:spcPct val="0"/>
      </a:spcBef>
      <a:spcAft>
        <a:spcPct val="0"/>
      </a:spcAft>
      <a:defRPr kumimoji="1" sz="1600" kern="1200">
        <a:solidFill>
          <a:srgbClr val="00B0F0"/>
        </a:solidFill>
        <a:latin typeface="산돌명조B"/>
        <a:ea typeface="산돌명조B"/>
        <a:cs typeface="산돌명조B"/>
      </a:defRPr>
    </a:lvl2pPr>
    <a:lvl3pPr marL="914226" algn="l" rtl="0" fontAlgn="base" latinLnBrk="1">
      <a:spcBef>
        <a:spcPct val="0"/>
      </a:spcBef>
      <a:spcAft>
        <a:spcPct val="0"/>
      </a:spcAft>
      <a:defRPr kumimoji="1" sz="1600" kern="1200">
        <a:solidFill>
          <a:srgbClr val="00B0F0"/>
        </a:solidFill>
        <a:latin typeface="산돌명조B"/>
        <a:ea typeface="산돌명조B"/>
        <a:cs typeface="산돌명조B"/>
      </a:defRPr>
    </a:lvl3pPr>
    <a:lvl4pPr marL="1371341" algn="l" rtl="0" fontAlgn="base" latinLnBrk="1">
      <a:spcBef>
        <a:spcPct val="0"/>
      </a:spcBef>
      <a:spcAft>
        <a:spcPct val="0"/>
      </a:spcAft>
      <a:defRPr kumimoji="1" sz="1600" kern="1200">
        <a:solidFill>
          <a:srgbClr val="00B0F0"/>
        </a:solidFill>
        <a:latin typeface="산돌명조B"/>
        <a:ea typeface="산돌명조B"/>
        <a:cs typeface="산돌명조B"/>
      </a:defRPr>
    </a:lvl4pPr>
    <a:lvl5pPr marL="1828454" algn="l" rtl="0" fontAlgn="base" latinLnBrk="1">
      <a:spcBef>
        <a:spcPct val="0"/>
      </a:spcBef>
      <a:spcAft>
        <a:spcPct val="0"/>
      </a:spcAft>
      <a:defRPr kumimoji="1" sz="1600" kern="1200">
        <a:solidFill>
          <a:srgbClr val="00B0F0"/>
        </a:solidFill>
        <a:latin typeface="산돌명조B"/>
        <a:ea typeface="산돌명조B"/>
        <a:cs typeface="산돌명조B"/>
      </a:defRPr>
    </a:lvl5pPr>
    <a:lvl6pPr marL="2285567" algn="l" defTabSz="914226" rtl="0" eaLnBrk="1" latinLnBrk="1" hangingPunct="1">
      <a:defRPr kumimoji="1" sz="1600" kern="1200">
        <a:solidFill>
          <a:srgbClr val="00B0F0"/>
        </a:solidFill>
        <a:latin typeface="산돌명조B"/>
        <a:ea typeface="산돌명조B"/>
        <a:cs typeface="산돌명조B"/>
      </a:defRPr>
    </a:lvl6pPr>
    <a:lvl7pPr marL="2742680" algn="l" defTabSz="914226" rtl="0" eaLnBrk="1" latinLnBrk="1" hangingPunct="1">
      <a:defRPr kumimoji="1" sz="1600" kern="1200">
        <a:solidFill>
          <a:srgbClr val="00B0F0"/>
        </a:solidFill>
        <a:latin typeface="산돌명조B"/>
        <a:ea typeface="산돌명조B"/>
        <a:cs typeface="산돌명조B"/>
      </a:defRPr>
    </a:lvl7pPr>
    <a:lvl8pPr marL="3199794" algn="l" defTabSz="914226" rtl="0" eaLnBrk="1" latinLnBrk="1" hangingPunct="1">
      <a:defRPr kumimoji="1" sz="1600" kern="1200">
        <a:solidFill>
          <a:srgbClr val="00B0F0"/>
        </a:solidFill>
        <a:latin typeface="산돌명조B"/>
        <a:ea typeface="산돌명조B"/>
        <a:cs typeface="산돌명조B"/>
      </a:defRPr>
    </a:lvl8pPr>
    <a:lvl9pPr marL="3656908" algn="l" defTabSz="914226" rtl="0" eaLnBrk="1" latinLnBrk="1" hangingPunct="1">
      <a:defRPr kumimoji="1" sz="1600" kern="1200">
        <a:solidFill>
          <a:srgbClr val="00B0F0"/>
        </a:solidFill>
        <a:latin typeface="산돌명조B"/>
        <a:ea typeface="산돌명조B"/>
        <a:cs typeface="산돌명조B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79">
          <p15:clr>
            <a:srgbClr val="A4A3A4"/>
          </p15:clr>
        </p15:guide>
        <p15:guide id="2" orient="horz" pos="3974">
          <p15:clr>
            <a:srgbClr val="A4A3A4"/>
          </p15:clr>
        </p15:guide>
        <p15:guide id="3" orient="horz" pos="663">
          <p15:clr>
            <a:srgbClr val="A4A3A4"/>
          </p15:clr>
        </p15:guide>
        <p15:guide id="4" orient="horz" pos="300">
          <p15:clr>
            <a:srgbClr val="A4A3A4"/>
          </p15:clr>
        </p15:guide>
        <p15:guide id="5" pos="6023">
          <p15:clr>
            <a:srgbClr val="A4A3A4"/>
          </p15:clr>
        </p15:guide>
        <p15:guide id="6" pos="2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A44A"/>
    <a:srgbClr val="0000CC"/>
    <a:srgbClr val="00C057"/>
    <a:srgbClr val="2D70F7"/>
    <a:srgbClr val="FF6600"/>
    <a:srgbClr val="00B050"/>
    <a:srgbClr val="006699"/>
    <a:srgbClr val="1F497D"/>
    <a:srgbClr val="2D5A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947" autoAdjust="0"/>
    <p:restoredTop sz="96327" autoAdjust="0"/>
  </p:normalViewPr>
  <p:slideViewPr>
    <p:cSldViewPr snapToObjects="1" showGuides="1">
      <p:cViewPr varScale="1">
        <p:scale>
          <a:sx n="116" d="100"/>
          <a:sy n="116" d="100"/>
        </p:scale>
        <p:origin x="-1152" y="-77"/>
      </p:cViewPr>
      <p:guideLst>
        <p:guide orient="horz" pos="1980"/>
        <p:guide orient="horz" pos="3975"/>
        <p:guide orient="horz" pos="663"/>
        <p:guide orient="horz" pos="300"/>
        <p:guide pos="6023"/>
        <p:guide pos="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Objects="1" showGuides="1">
      <p:cViewPr varScale="1">
        <p:scale>
          <a:sx n="100" d="100"/>
          <a:sy n="100" d="100"/>
        </p:scale>
        <p:origin x="4344" y="184"/>
      </p:cViewPr>
      <p:guideLst>
        <p:guide orient="horz" pos="3130"/>
        <p:guide pos="2144"/>
      </p:guideLst>
    </p:cSldViewPr>
  </p:notesViewPr>
  <p:gridSpacing cx="72010" cy="7201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0"/>
            <a:ext cx="294942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17" tIns="44159" rIns="88317" bIns="44159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kumimoji="0" sz="1200">
                <a:latin typeface="산돌명조B" pitchFamily="18" charset="-127"/>
                <a:ea typeface="산돌명조B" pitchFamily="18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591" y="10"/>
            <a:ext cx="294942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17" tIns="44159" rIns="88317" bIns="4415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>
                <a:latin typeface="산돌명조B" pitchFamily="18" charset="-127"/>
                <a:ea typeface="산돌명조B" pitchFamily="18" charset="-127"/>
                <a:cs typeface="+mn-cs"/>
              </a:defRPr>
            </a:lvl1pPr>
          </a:lstStyle>
          <a:p>
            <a:pPr>
              <a:defRPr/>
            </a:pPr>
            <a:fld id="{63D7C49F-6196-4C5B-A636-F4E7F2DE6279}" type="datetimeFigureOut"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pPr>
                <a:defRPr/>
              </a:pPr>
              <a:t>2026-01-13</a:t>
            </a:fld>
            <a:endParaRPr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854"/>
            <a:ext cx="2949420" cy="496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17" tIns="44159" rIns="88317" bIns="44159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kumimoji="0" sz="1200">
                <a:latin typeface="산돌명조B" pitchFamily="18" charset="-127"/>
                <a:ea typeface="산돌명조B" pitchFamily="18" charset="-127"/>
                <a:cs typeface="+mn-cs"/>
              </a:defRPr>
            </a:lvl1pPr>
          </a:lstStyle>
          <a:p>
            <a:pPr>
              <a:defRPr/>
            </a:pPr>
            <a:endParaRPr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591" y="9440854"/>
            <a:ext cx="2949420" cy="496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317" tIns="44159" rIns="88317" bIns="4415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>
                <a:latin typeface="산돌명조B" pitchFamily="18" charset="-127"/>
                <a:ea typeface="산돌명조B" pitchFamily="18" charset="-127"/>
                <a:cs typeface="+mn-cs"/>
              </a:defRPr>
            </a:lvl1pPr>
          </a:lstStyle>
          <a:p>
            <a:pPr>
              <a:defRPr/>
            </a:pPr>
            <a:fld id="{9F8FE92B-D3A2-40F2-BAF6-14236133748A}" type="slidenum"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pPr>
                <a:defRPr/>
              </a:pPr>
              <a:t>‹#›</a:t>
            </a:fld>
            <a:endParaRPr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95602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0"/>
            <a:ext cx="2949420" cy="496887"/>
          </a:xfrm>
          <a:prstGeom prst="rect">
            <a:avLst/>
          </a:prstGeom>
        </p:spPr>
        <p:txBody>
          <a:bodyPr vert="horz" lIns="95665" tIns="47833" rIns="95665" bIns="4783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591" y="10"/>
            <a:ext cx="2949420" cy="496887"/>
          </a:xfrm>
          <a:prstGeom prst="rect">
            <a:avLst/>
          </a:prstGeom>
        </p:spPr>
        <p:txBody>
          <a:bodyPr vert="horz" lIns="95665" tIns="47833" rIns="95665" bIns="4783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73005F-B3BC-4153-97E0-BA8A1EA8FD2D}" type="datetimeFigureOut">
              <a:rPr lang="ko-KR" altLang="en-US"/>
              <a:pPr>
                <a:defRPr/>
              </a:pPr>
              <a:t>2026-01-13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0037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65" tIns="47833" rIns="95665" bIns="47833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884" y="4721226"/>
            <a:ext cx="5443850" cy="4471982"/>
          </a:xfrm>
          <a:prstGeom prst="rect">
            <a:avLst/>
          </a:prstGeom>
        </p:spPr>
        <p:txBody>
          <a:bodyPr vert="horz" lIns="95665" tIns="47833" rIns="95665" bIns="4783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54"/>
            <a:ext cx="2949420" cy="496886"/>
          </a:xfrm>
          <a:prstGeom prst="rect">
            <a:avLst/>
          </a:prstGeom>
        </p:spPr>
        <p:txBody>
          <a:bodyPr vert="horz" lIns="95665" tIns="47833" rIns="95665" bIns="4783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591" y="9440854"/>
            <a:ext cx="2949420" cy="496886"/>
          </a:xfrm>
          <a:prstGeom prst="rect">
            <a:avLst/>
          </a:prstGeom>
        </p:spPr>
        <p:txBody>
          <a:bodyPr vert="horz" lIns="95665" tIns="47833" rIns="95665" bIns="4783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CDC8343-4FA3-482F-BC54-8AA15A7ADD9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5840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114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226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341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454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5567" algn="l" defTabSz="91422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80" algn="l" defTabSz="91422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08" algn="l" defTabSz="91422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/>
          <p:cNvSpPr>
            <a:spLocks noGrp="1"/>
          </p:cNvSpPr>
          <p:nvPr>
            <p:ph type="title" hasCustomPrompt="1"/>
          </p:nvPr>
        </p:nvSpPr>
        <p:spPr>
          <a:xfrm>
            <a:off x="367556" y="2299962"/>
            <a:ext cx="9144000" cy="720166"/>
          </a:xfrm>
          <a:prstGeom prst="rect">
            <a:avLst/>
          </a:prstGeom>
        </p:spPr>
        <p:txBody>
          <a:bodyPr lIns="91422" tIns="45712" rIns="91422" bIns="107980" anchor="b"/>
          <a:lstStyle>
            <a:lvl1pPr algn="ctr">
              <a:defRPr sz="2800" b="1" baseline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6392867" y="4654273"/>
            <a:ext cx="3103975" cy="468109"/>
          </a:xfrm>
          <a:prstGeom prst="rect">
            <a:avLst/>
          </a:prstGeom>
        </p:spPr>
        <p:txBody>
          <a:bodyPr lIns="91422" tIns="45712" rIns="91422" bIns="45712" anchor="b"/>
          <a:lstStyle>
            <a:lvl1pPr algn="r">
              <a:buNone/>
              <a:defRPr sz="1400" b="0" i="0" baseline="0">
                <a:latin typeface="Arial Narrow" panose="020B0604020202020204" pitchFamily="34" charset="0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/>
              <a:t>부서 및 성명을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텍스트 개체 틀 22"/>
          <p:cNvSpPr>
            <a:spLocks noGrp="1"/>
          </p:cNvSpPr>
          <p:nvPr>
            <p:ph type="body" sz="quarter" idx="12" hasCustomPrompt="1"/>
          </p:nvPr>
        </p:nvSpPr>
        <p:spPr>
          <a:xfrm>
            <a:off x="6392867" y="5122374"/>
            <a:ext cx="3103975" cy="396091"/>
          </a:xfrm>
          <a:prstGeom prst="rect">
            <a:avLst/>
          </a:prstGeom>
        </p:spPr>
        <p:txBody>
          <a:bodyPr lIns="91422" tIns="45712" rIns="91422" bIns="45712"/>
          <a:lstStyle>
            <a:lvl1pPr algn="r">
              <a:buNone/>
              <a:defRPr sz="1400" b="0" i="0" baseline="0">
                <a:latin typeface="Arial Narrow" panose="020B0604020202020204" pitchFamily="34" charset="0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/>
              <a:t>날짜를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Rectangle 26"/>
          <p:cNvSpPr>
            <a:spLocks noChangeArrowheads="1"/>
          </p:cNvSpPr>
          <p:nvPr userDrawn="1"/>
        </p:nvSpPr>
        <p:spPr bwMode="auto">
          <a:xfrm>
            <a:off x="349250" y="2366816"/>
            <a:ext cx="8686800" cy="533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2" tIns="45712" rIns="91422" bIns="45712" anchor="ctr"/>
          <a:lstStyle/>
          <a:p>
            <a:pPr algn="ctr" eaLnBrk="0" hangingPunct="0">
              <a:defRPr/>
            </a:pPr>
            <a:endParaRPr kumimoji="0" lang="ko-KR" altLang="en-US" sz="4400" b="0" i="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pSp>
        <p:nvGrpSpPr>
          <p:cNvPr id="48" name="그룹 47"/>
          <p:cNvGrpSpPr/>
          <p:nvPr userDrawn="1"/>
        </p:nvGrpSpPr>
        <p:grpSpPr>
          <a:xfrm>
            <a:off x="363114" y="2556430"/>
            <a:ext cx="9149333" cy="500179"/>
            <a:chOff x="363112" y="2555834"/>
            <a:chExt cx="9149333" cy="500063"/>
          </a:xfrm>
        </p:grpSpPr>
        <p:sp>
          <p:nvSpPr>
            <p:cNvPr id="45" name="Line 28"/>
            <p:cNvSpPr>
              <a:spLocks noChangeShapeType="1"/>
            </p:cNvSpPr>
            <p:nvPr userDrawn="1"/>
          </p:nvSpPr>
          <p:spPr bwMode="auto">
            <a:xfrm>
              <a:off x="363112" y="3013034"/>
              <a:ext cx="9067800" cy="0"/>
            </a:xfrm>
            <a:prstGeom prst="line">
              <a:avLst/>
            </a:prstGeom>
            <a:noFill/>
            <a:ln w="19050">
              <a:solidFill>
                <a:srgbClr val="3366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endParaRPr kumimoji="0" lang="ko-KR" altLang="en-US" b="0" i="0" dirty="0"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46" name="Line 29"/>
            <p:cNvSpPr>
              <a:spLocks noChangeShapeType="1"/>
            </p:cNvSpPr>
            <p:nvPr userDrawn="1"/>
          </p:nvSpPr>
          <p:spPr bwMode="auto">
            <a:xfrm>
              <a:off x="363112" y="3055897"/>
              <a:ext cx="2524126" cy="0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endParaRPr kumimoji="0" lang="ko-KR" altLang="en-US" b="0" i="0" dirty="0"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47" name="Rectangle 30"/>
            <p:cNvSpPr>
              <a:spLocks noChangeArrowheads="1"/>
            </p:cNvSpPr>
            <p:nvPr userDrawn="1"/>
          </p:nvSpPr>
          <p:spPr bwMode="auto">
            <a:xfrm>
              <a:off x="9131445" y="2555834"/>
              <a:ext cx="381000" cy="457200"/>
            </a:xfrm>
            <a:prstGeom prst="rect">
              <a:avLst/>
            </a:prstGeom>
            <a:solidFill>
              <a:srgbClr val="336699"/>
            </a:solidFill>
            <a:ln w="9525">
              <a:solidFill>
                <a:srgbClr val="3366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en-US" sz="2400" b="0" i="0" dirty="0">
                <a:solidFill>
                  <a:srgbClr val="336699"/>
                </a:solidFill>
                <a:latin typeface="Arial Narrow" panose="020B0604020202020204" pitchFamily="34" charset="0"/>
                <a:ea typeface="Malgun Gothic" panose="020B0503020000020004" pitchFamily="34" charset="-127"/>
                <a:cs typeface="+mn-cs"/>
              </a:endParaRPr>
            </a:p>
          </p:txBody>
        </p:sp>
      </p:grpSp>
      <p:sp>
        <p:nvSpPr>
          <p:cNvPr id="49" name="Rectangle 31"/>
          <p:cNvSpPr>
            <a:spLocks noChangeArrowheads="1"/>
          </p:cNvSpPr>
          <p:nvPr userDrawn="1"/>
        </p:nvSpPr>
        <p:spPr bwMode="auto">
          <a:xfrm>
            <a:off x="-1975" y="1391"/>
            <a:ext cx="72000" cy="6742377"/>
          </a:xfrm>
          <a:prstGeom prst="rect">
            <a:avLst/>
          </a:prstGeom>
          <a:solidFill>
            <a:srgbClr val="1F497D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22" tIns="45712" rIns="91422" bIns="45712" anchor="ctr"/>
          <a:lstStyle/>
          <a:p>
            <a:pPr algn="ctr" eaLnBrk="0" hangingPunct="0">
              <a:defRPr/>
            </a:pPr>
            <a:endParaRPr kumimoji="0" lang="ko-KR" altLang="en-US" b="0" i="0" dirty="0"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50" name="순서도: 데이터 49"/>
          <p:cNvSpPr/>
          <p:nvPr userDrawn="1"/>
        </p:nvSpPr>
        <p:spPr bwMode="auto">
          <a:xfrm rot="5400000" flipV="1">
            <a:off x="-303037" y="6504708"/>
            <a:ext cx="675618" cy="70505"/>
          </a:xfrm>
          <a:prstGeom prst="flowChartInputOutput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22" tIns="45712" rIns="91422" bIns="45712" anchor="ctr"/>
          <a:lstStyle/>
          <a:p>
            <a:pPr marL="301568" indent="-301568" algn="ctr" defTabSz="801536">
              <a:defRPr/>
            </a:pPr>
            <a:endParaRPr kumimoji="0" lang="ko-KR" altLang="en-US" sz="900" b="0" i="0" dirty="0"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grpSp>
        <p:nvGrpSpPr>
          <p:cNvPr id="51" name="그룹 50"/>
          <p:cNvGrpSpPr/>
          <p:nvPr userDrawn="1"/>
        </p:nvGrpSpPr>
        <p:grpSpPr>
          <a:xfrm>
            <a:off x="-477" y="178"/>
            <a:ext cx="70505" cy="681173"/>
            <a:chOff x="777762" y="892344"/>
            <a:chExt cx="68400" cy="653400"/>
          </a:xfrm>
        </p:grpSpPr>
        <p:sp>
          <p:nvSpPr>
            <p:cNvPr id="52" name="순서도: 데이터 51"/>
            <p:cNvSpPr/>
            <p:nvPr userDrawn="1"/>
          </p:nvSpPr>
          <p:spPr bwMode="auto">
            <a:xfrm rot="5400000" flipV="1">
              <a:off x="487926" y="1187508"/>
              <a:ext cx="648072" cy="68400"/>
            </a:xfrm>
            <a:prstGeom prst="flowChartInputOutpu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301568" indent="-301568" algn="ctr" defTabSz="801536">
                <a:defRPr/>
              </a:pPr>
              <a:endParaRPr kumimoji="0" lang="ko-KR" altLang="en-US" sz="900" b="0" i="0" dirty="0"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53" name="직사각형 52"/>
            <p:cNvSpPr/>
            <p:nvPr userDrawn="1"/>
          </p:nvSpPr>
          <p:spPr bwMode="auto">
            <a:xfrm>
              <a:off x="777762" y="892344"/>
              <a:ext cx="68400" cy="230832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301568" lvl="0" indent="-301568" algn="ctr" defTabSz="801536"/>
              <a:endParaRPr kumimoji="0" lang="ko-KR" altLang="en-US" sz="900" b="0" i="0" dirty="0"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endParaRPr>
            </a:p>
          </p:txBody>
        </p:sp>
      </p:grpSp>
      <p:sp>
        <p:nvSpPr>
          <p:cNvPr id="27" name="TextBox 26"/>
          <p:cNvSpPr txBox="1"/>
          <p:nvPr userDrawn="1"/>
        </p:nvSpPr>
        <p:spPr>
          <a:xfrm>
            <a:off x="291535" y="6496655"/>
            <a:ext cx="3400253" cy="246205"/>
          </a:xfrm>
          <a:prstGeom prst="rect">
            <a:avLst/>
          </a:prstGeom>
          <a:noFill/>
        </p:spPr>
        <p:txBody>
          <a:bodyPr wrap="none" lIns="91422" tIns="45712" rIns="91422" bIns="45712" rtlCol="0">
            <a:spAutoFit/>
          </a:bodyPr>
          <a:lstStyle/>
          <a:p>
            <a:r>
              <a:rPr lang="en-US" altLang="ko-KR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Creative Solution</a:t>
            </a:r>
            <a:r>
              <a:rPr lang="en-US" altLang="ko-KR" sz="1000" b="0" i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Company with Advanced Technology</a:t>
            </a:r>
            <a:endParaRPr lang="ko-KR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74" y="39654"/>
            <a:ext cx="2338164" cy="57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00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/>
          <p:cNvSpPr>
            <a:spLocks noGrp="1"/>
          </p:cNvSpPr>
          <p:nvPr>
            <p:ph type="body" sz="quarter" idx="14"/>
          </p:nvPr>
        </p:nvSpPr>
        <p:spPr>
          <a:xfrm>
            <a:off x="368061" y="548889"/>
            <a:ext cx="9144000" cy="720166"/>
          </a:xfrm>
          <a:prstGeom prst="rect">
            <a:avLst/>
          </a:prstGeom>
        </p:spPr>
        <p:txBody>
          <a:bodyPr lIns="91434" tIns="107993" rIns="91434" bIns="45718"/>
          <a:lstStyle>
            <a:lvl1pPr marL="0" indent="0" latinLnBrk="0">
              <a:defRPr sz="1600" b="0">
                <a:latin typeface="Arial Narrow" pitchFamily="34" charset="0"/>
                <a:ea typeface="+mn-ea"/>
              </a:defRPr>
            </a:lvl1pPr>
          </a:lstStyle>
          <a:p>
            <a:pPr lvl="0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8061" y="72555"/>
            <a:ext cx="9144000" cy="432379"/>
          </a:xfrm>
          <a:prstGeom prst="rect">
            <a:avLst/>
          </a:prstGeom>
        </p:spPr>
        <p:txBody>
          <a:bodyPr lIns="91434" tIns="45718" rIns="91434" bIns="107993" anchor="ctr">
            <a:noAutofit/>
          </a:bodyPr>
          <a:lstStyle>
            <a:lvl1pPr>
              <a:defRPr sz="1800" b="1" baseline="0">
                <a:latin typeface="Arial Narrow" pitchFamily="34" charset="0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673435" y="6526857"/>
            <a:ext cx="540000" cy="246217"/>
          </a:xfrm>
          <a:prstGeom prst="rect">
            <a:avLst/>
          </a:prstGeom>
          <a:noFill/>
        </p:spPr>
        <p:txBody>
          <a:bodyPr wrap="square" lIns="91434" tIns="45718" rIns="91434" bIns="45718" rtlCol="0">
            <a:spAutoFit/>
          </a:bodyPr>
          <a:lstStyle/>
          <a:p>
            <a:pPr algn="ctr"/>
            <a:fld id="{744DFDC7-34C2-4DB1-8258-67A517DCDBFB}" type="slidenum">
              <a:rPr lang="ko-KR" altLang="en-US" sz="1000" smtClean="0">
                <a:solidFill>
                  <a:prstClr val="black"/>
                </a:solidFill>
                <a:latin typeface="Arial Narrow" pitchFamily="34" charset="0"/>
                <a:ea typeface="맑은 고딕" pitchFamily="50" charset="-127"/>
              </a:rPr>
              <a:pPr algn="ctr"/>
              <a:t>‹#›</a:t>
            </a:fld>
            <a:endParaRPr lang="ko-KR" altLang="en-US" sz="1000" dirty="0">
              <a:solidFill>
                <a:prstClr val="black"/>
              </a:solidFill>
              <a:latin typeface="Arial Narrow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39581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/>
          <p:cNvSpPr>
            <a:spLocks noGrp="1"/>
          </p:cNvSpPr>
          <p:nvPr>
            <p:ph type="title" hasCustomPrompt="1"/>
          </p:nvPr>
        </p:nvSpPr>
        <p:spPr>
          <a:xfrm>
            <a:off x="367553" y="2299962"/>
            <a:ext cx="9144000" cy="720166"/>
          </a:xfrm>
          <a:prstGeom prst="rect">
            <a:avLst/>
          </a:prstGeom>
        </p:spPr>
        <p:txBody>
          <a:bodyPr bIns="108000" anchor="b"/>
          <a:lstStyle>
            <a:lvl1pPr algn="ctr">
              <a:defRPr sz="2800" b="1" baseline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6392862" y="4654273"/>
            <a:ext cx="3103975" cy="468109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sz="1400" b="0" i="0" baseline="0">
                <a:latin typeface="Arial Narrow" panose="020B0604020202020204" pitchFamily="34" charset="0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/>
              <a:t>부서 및 성명을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텍스트 개체 틀 22"/>
          <p:cNvSpPr>
            <a:spLocks noGrp="1"/>
          </p:cNvSpPr>
          <p:nvPr>
            <p:ph type="body" sz="quarter" idx="12" hasCustomPrompt="1"/>
          </p:nvPr>
        </p:nvSpPr>
        <p:spPr>
          <a:xfrm>
            <a:off x="6392862" y="5122374"/>
            <a:ext cx="3103975" cy="396091"/>
          </a:xfrm>
          <a:prstGeom prst="rect">
            <a:avLst/>
          </a:prstGeom>
        </p:spPr>
        <p:txBody>
          <a:bodyPr/>
          <a:lstStyle>
            <a:lvl1pPr algn="r">
              <a:buNone/>
              <a:defRPr sz="1400" b="0" i="0" baseline="0">
                <a:latin typeface="Arial Narrow" panose="020B0604020202020204" pitchFamily="34" charset="0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/>
              <a:t>날짜를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Rectangle 26"/>
          <p:cNvSpPr>
            <a:spLocks noChangeArrowheads="1"/>
          </p:cNvSpPr>
          <p:nvPr userDrawn="1"/>
        </p:nvSpPr>
        <p:spPr bwMode="auto">
          <a:xfrm>
            <a:off x="349250" y="2366816"/>
            <a:ext cx="8686800" cy="533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endParaRPr kumimoji="0" lang="ko-KR" altLang="en-US" sz="4400" b="0" i="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pSp>
        <p:nvGrpSpPr>
          <p:cNvPr id="48" name="그룹 47"/>
          <p:cNvGrpSpPr/>
          <p:nvPr userDrawn="1"/>
        </p:nvGrpSpPr>
        <p:grpSpPr>
          <a:xfrm>
            <a:off x="363114" y="2556427"/>
            <a:ext cx="9149333" cy="500179"/>
            <a:chOff x="363112" y="2555834"/>
            <a:chExt cx="9149333" cy="500063"/>
          </a:xfrm>
        </p:grpSpPr>
        <p:sp>
          <p:nvSpPr>
            <p:cNvPr id="45" name="Line 28"/>
            <p:cNvSpPr>
              <a:spLocks noChangeShapeType="1"/>
            </p:cNvSpPr>
            <p:nvPr userDrawn="1"/>
          </p:nvSpPr>
          <p:spPr bwMode="auto">
            <a:xfrm>
              <a:off x="363112" y="3013034"/>
              <a:ext cx="9067800" cy="0"/>
            </a:xfrm>
            <a:prstGeom prst="line">
              <a:avLst/>
            </a:prstGeom>
            <a:noFill/>
            <a:ln w="19050">
              <a:solidFill>
                <a:srgbClr val="3366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endParaRPr kumimoji="0" lang="ko-KR" altLang="en-US" b="0" i="0" dirty="0"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46" name="Line 29"/>
            <p:cNvSpPr>
              <a:spLocks noChangeShapeType="1"/>
            </p:cNvSpPr>
            <p:nvPr userDrawn="1"/>
          </p:nvSpPr>
          <p:spPr bwMode="auto">
            <a:xfrm>
              <a:off x="363112" y="3055897"/>
              <a:ext cx="2524126" cy="0"/>
            </a:xfrm>
            <a:prstGeom prst="line">
              <a:avLst/>
            </a:prstGeom>
            <a:noFill/>
            <a:ln w="76200">
              <a:solidFill>
                <a:srgbClr val="3366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eaLnBrk="0" hangingPunct="0">
                <a:defRPr/>
              </a:pPr>
              <a:endParaRPr kumimoji="0" lang="ko-KR" altLang="en-US" b="0" i="0" dirty="0"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47" name="Rectangle 30"/>
            <p:cNvSpPr>
              <a:spLocks noChangeArrowheads="1"/>
            </p:cNvSpPr>
            <p:nvPr userDrawn="1"/>
          </p:nvSpPr>
          <p:spPr bwMode="auto">
            <a:xfrm>
              <a:off x="9131445" y="2555834"/>
              <a:ext cx="381000" cy="457200"/>
            </a:xfrm>
            <a:prstGeom prst="rect">
              <a:avLst/>
            </a:prstGeom>
            <a:solidFill>
              <a:srgbClr val="336699"/>
            </a:solidFill>
            <a:ln w="9525">
              <a:solidFill>
                <a:srgbClr val="3366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en-US" sz="2400" b="0" i="0" dirty="0">
                <a:solidFill>
                  <a:srgbClr val="336699"/>
                </a:solidFill>
                <a:latin typeface="Arial Narrow" panose="020B0604020202020204" pitchFamily="34" charset="0"/>
                <a:ea typeface="Malgun Gothic" panose="020B0503020000020004" pitchFamily="34" charset="-127"/>
                <a:cs typeface="+mn-cs"/>
              </a:endParaRPr>
            </a:p>
          </p:txBody>
        </p:sp>
      </p:grpSp>
      <p:sp>
        <p:nvSpPr>
          <p:cNvPr id="49" name="Rectangle 31"/>
          <p:cNvSpPr>
            <a:spLocks noChangeArrowheads="1"/>
          </p:cNvSpPr>
          <p:nvPr userDrawn="1"/>
        </p:nvSpPr>
        <p:spPr bwMode="auto">
          <a:xfrm>
            <a:off x="-1975" y="1391"/>
            <a:ext cx="72000" cy="6742377"/>
          </a:xfrm>
          <a:prstGeom prst="rect">
            <a:avLst/>
          </a:prstGeom>
          <a:solidFill>
            <a:srgbClr val="1F497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kumimoji="0" lang="ko-KR" altLang="en-US" b="0" i="0" dirty="0"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50" name="순서도: 데이터 49"/>
          <p:cNvSpPr/>
          <p:nvPr userDrawn="1"/>
        </p:nvSpPr>
        <p:spPr bwMode="auto">
          <a:xfrm rot="5400000" flipV="1">
            <a:off x="-303037" y="6504705"/>
            <a:ext cx="675618" cy="70505"/>
          </a:xfrm>
          <a:prstGeom prst="flowChartInputOutput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301625" indent="-301625" algn="ctr" defTabSz="801688">
              <a:defRPr/>
            </a:pPr>
            <a:endParaRPr kumimoji="0" lang="ko-KR" altLang="en-US" sz="900" b="0" i="0" dirty="0">
              <a:latin typeface="Malgun Gothic" panose="020B0503020000020004" pitchFamily="34" charset="-127"/>
              <a:ea typeface="Malgun Gothic" panose="020B0503020000020004" pitchFamily="34" charset="-127"/>
              <a:cs typeface="+mn-cs"/>
            </a:endParaRPr>
          </a:p>
        </p:txBody>
      </p:sp>
      <p:grpSp>
        <p:nvGrpSpPr>
          <p:cNvPr id="51" name="그룹 50"/>
          <p:cNvGrpSpPr/>
          <p:nvPr userDrawn="1"/>
        </p:nvGrpSpPr>
        <p:grpSpPr>
          <a:xfrm>
            <a:off x="-480" y="175"/>
            <a:ext cx="70505" cy="681173"/>
            <a:chOff x="777762" y="892344"/>
            <a:chExt cx="68400" cy="653400"/>
          </a:xfrm>
        </p:grpSpPr>
        <p:sp>
          <p:nvSpPr>
            <p:cNvPr id="52" name="순서도: 데이터 51"/>
            <p:cNvSpPr/>
            <p:nvPr userDrawn="1"/>
          </p:nvSpPr>
          <p:spPr bwMode="auto">
            <a:xfrm rot="5400000" flipV="1">
              <a:off x="487926" y="1187508"/>
              <a:ext cx="648072" cy="68400"/>
            </a:xfrm>
            <a:prstGeom prst="flowChartInputOutpu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301625" indent="-301625" algn="ctr" defTabSz="801688">
                <a:defRPr/>
              </a:pPr>
              <a:endParaRPr kumimoji="0" lang="ko-KR" altLang="en-US" sz="900" b="0" i="0" dirty="0"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53" name="직사각형 52"/>
            <p:cNvSpPr/>
            <p:nvPr userDrawn="1"/>
          </p:nvSpPr>
          <p:spPr bwMode="auto">
            <a:xfrm>
              <a:off x="777762" y="892344"/>
              <a:ext cx="68400" cy="230832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301625" lvl="0" indent="-301625" algn="ctr" defTabSz="801688"/>
              <a:endParaRPr kumimoji="0" lang="ko-KR" altLang="en-US" sz="900" b="0" i="0" dirty="0">
                <a:latin typeface="Malgun Gothic" panose="020B0503020000020004" pitchFamily="34" charset="-127"/>
                <a:ea typeface="Malgun Gothic" panose="020B0503020000020004" pitchFamily="34" charset="-127"/>
                <a:cs typeface="+mn-cs"/>
              </a:endParaRPr>
            </a:p>
          </p:txBody>
        </p:sp>
      </p:grp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74" y="39654"/>
            <a:ext cx="2338164" cy="57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46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2.emf"/><Relationship Id="rId8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25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</p:sldLayoutIdLst>
  <p:hf hdr="0" ftr="0" dt="0"/>
  <p:txStyles>
    <p:titleStyle>
      <a:lvl1pPr algn="ctr" defTabSz="914226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5" indent="-342835" algn="l" defTabSz="91422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09" indent="-285696" algn="l" defTabSz="91422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84" indent="-228557" algn="l" defTabSz="914226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97" indent="-228557" algn="l" defTabSz="91422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10" indent="-228557" algn="l" defTabSz="91422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24" indent="-228557" algn="l" defTabSz="91422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37" indent="-228557" algn="l" defTabSz="91422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51" indent="-228557" algn="l" defTabSz="91422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62" indent="-228557" algn="l" defTabSz="91422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2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4" algn="l" defTabSz="91422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26" algn="l" defTabSz="91422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41" algn="l" defTabSz="91422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54" algn="l" defTabSz="91422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67" algn="l" defTabSz="91422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80" algn="l" defTabSz="91422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94" algn="l" defTabSz="91422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08" algn="l" defTabSz="91422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588" y="1590"/>
          <a:ext cx="1588" cy="1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8"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0"/>
                        <a:ext cx="1588" cy="15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직선 연결선 7"/>
          <p:cNvCxnSpPr/>
          <p:nvPr/>
        </p:nvCxnSpPr>
        <p:spPr>
          <a:xfrm>
            <a:off x="267442" y="625025"/>
            <a:ext cx="9371116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</p:spPr>
      </p:cxnSp>
      <p:cxnSp>
        <p:nvCxnSpPr>
          <p:cNvPr id="5" name="직선 연결선 4"/>
          <p:cNvCxnSpPr/>
          <p:nvPr/>
        </p:nvCxnSpPr>
        <p:spPr>
          <a:xfrm>
            <a:off x="267442" y="6490359"/>
            <a:ext cx="9371116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81046" y="6544793"/>
            <a:ext cx="3566990" cy="246217"/>
          </a:xfrm>
          <a:prstGeom prst="rect">
            <a:avLst/>
          </a:prstGeom>
          <a:noFill/>
        </p:spPr>
        <p:txBody>
          <a:bodyPr wrap="none" lIns="91434" tIns="45718" rIns="91434" bIns="45718" rtlCol="0">
            <a:spAutoFit/>
          </a:bodyPr>
          <a:lstStyle/>
          <a:p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Creative Solution Company with Advanced Technology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맑은 고딕"/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14097E82-5FAE-F344-88FE-4D4C2D171DF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288" y="6513783"/>
            <a:ext cx="1244510" cy="30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40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8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1800" kern="1200" baseline="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71" algn="l" rtl="0" fontAlgn="base" latinLnBrk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342" algn="l" rtl="0" fontAlgn="base" latinLnBrk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513" algn="l" rtl="0" fontAlgn="base" latinLnBrk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684" algn="l" rtl="0" fontAlgn="base" latinLnBrk="1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879" indent="-342879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sz="1800" b="1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742903" indent="-2857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8" indent="-228586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9" indent="-228586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70" indent="-228586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41" indent="-228586" algn="l" defTabSz="914342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2" indent="-228586" algn="l" defTabSz="914342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83" indent="-228586" algn="l" defTabSz="914342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4" indent="-228586" algn="l" defTabSz="914342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4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5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6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8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9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7365D"/>
                </a:solidFill>
                <a:latin typeface="맑은 고딕"/>
              </a:rPr>
              <a:t>SX3K 코팅 섹션 분석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0070C0"/>
                </a:solidFill>
                <a:latin typeface="맑은 고딕"/>
              </a:rPr>
              <a:t>확장 도포 조건 적용에 따른 단면 분석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맑은 고딕"/>
              </a:rPr>
              <a:t>EV생산기술팀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맑은 고딕"/>
              </a:rPr>
              <a:t>2026-08-13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97480" y="164592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●  </a:t>
            </a:r>
            <a:r>
              <a:rPr sz="1700" b="1">
                <a:solidFill>
                  <a:srgbClr val="000000"/>
                </a:solidFill>
                <a:latin typeface="맑은 고딕"/>
              </a:rP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9125712" cy="3200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468880"/>
            <a:ext cx="92811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914400"/>
            <a:ext cx="9107424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시험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00000"/>
                </a:solidFill>
                <a:latin typeface="맑은 고딕"/>
              </a:rPr>
              <a:t>본 SX3K 라인의 코팅 도포 조건은 확립된 도포 Bar 기준을 적용하여 진행되었으며,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본 자료는 해당 조건으로 도포된 제품의 단면 분석을 통해 코팅 품질에 이상이 없음을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확인하기 위해 작성되었습니다.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103120"/>
            <a:ext cx="9107424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시료 정보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423160"/>
          <a:ext cx="8961120" cy="960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676656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</a:rPr>
                        <a:t>제품명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EC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SX3K 모델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</a:rPr>
                        <a:t>시료 수량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EC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8EA (TOP LH/RH, BOT LH/RH 4종 PCB 2SET)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</a:rPr>
                        <a:t>측정 포인트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EC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</a:rPr>
                        <a:t>Sensing Tab 8p / Fuse 8p / Connector 8p / NTC 6p (부위별 1p씩, TOP·RH 제품 분석)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84048" y="3794760"/>
            <a:ext cx="9107424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시험 방법 및 시험기관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00000"/>
                </a:solidFill>
                <a:latin typeface="맑은 고딕"/>
              </a:rPr>
              <a:t>■ 시험 방법: 의뢰자가 제시한 부위의 단면에서 컨포멀 코팅 두께 분석 (raw data 제출)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■ 시험기관: (주)알에스피 (RSP)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■ 견적번호: RSP26-1067 (2026-07-16 발행)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5074920"/>
            <a:ext cx="9107424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검토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00000"/>
                </a:solidFill>
                <a:latin typeface="맑은 고딕"/>
              </a:rPr>
              <a:t>① 부위별(Sensing Tab / Fuse / Connector / NTC) 코팅 단면 두께 분포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② Connector 부위 UV Dose 구간별 경화율(%) 측정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97480" y="164592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●  </a:t>
            </a:r>
            <a:r>
              <a:rPr sz="1700" b="1">
                <a:solidFill>
                  <a:srgbClr val="000000"/>
                </a:solidFill>
                <a:latin typeface="맑은 고딕"/>
              </a:rPr>
              <a:t>Sensing Tab 부위 코팅 단면 분석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9125712" cy="3200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468880"/>
            <a:ext cx="92811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914400"/>
            <a:ext cx="5212080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규격별 측정 결과 (단위: um)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234440"/>
          <a:ext cx="5212080" cy="2240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/>
                <a:gridCol w="548640"/>
                <a:gridCol w="982980"/>
                <a:gridCol w="982980"/>
                <a:gridCol w="982980"/>
                <a:gridCol w="98298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규격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샘플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C60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1292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1098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1105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1225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1174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999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940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1116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C24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1159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966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986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1130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1249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1072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1065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1187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미표기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1139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1006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1059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1318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1350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1125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1112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1278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4048" y="3566160"/>
            <a:ext cx="5212080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규격별 통계 요약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3886200"/>
          <a:ext cx="521207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310335"/>
                <a:gridCol w="1310335"/>
                <a:gridCol w="1311249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규격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Min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Max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AVG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C60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940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1292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1118.6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C24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966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1249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1101.8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미표기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1006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1350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1173.4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940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1350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1131.2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486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맑은 고딕"/>
              </a:rPr>
              <a:t>■ Sensing Tab 전체 24개 측정 포인트: 940~1350um 범위에서 안정적으로 분포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3288" y="914400"/>
            <a:ext cx="3776472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대표 시료 사진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33288" y="1344168"/>
            <a:ext cx="3776472" cy="2048255"/>
          </a:xfrm>
          <a:prstGeom prst="rect">
            <a:avLst/>
          </a:prstGeom>
          <a:solidFill>
            <a:srgbClr val="F2F2F2"/>
          </a:solidFill>
          <a:ln w="12700">
            <a:solidFill>
              <a:srgbClr val="B0B0B0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  <a:latin typeface="맑은 고딕"/>
              </a:rPr>
              <a:t>Sensing Tab 외관 사진
(자리 예약)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33288" y="3529584"/>
            <a:ext cx="3776472" cy="2048255"/>
          </a:xfrm>
          <a:prstGeom prst="rect">
            <a:avLst/>
          </a:prstGeom>
          <a:solidFill>
            <a:srgbClr val="F2F2F2"/>
          </a:solidFill>
          <a:ln w="12700">
            <a:solidFill>
              <a:srgbClr val="B0B0B0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  <a:latin typeface="맑은 고딕"/>
              </a:rPr>
              <a:t>Sensing Tab 단면 사진
(자리 예약)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97480" y="164592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●  </a:t>
            </a:r>
            <a:r>
              <a:rPr sz="1700" b="1">
                <a:solidFill>
                  <a:srgbClr val="000000"/>
                </a:solidFill>
                <a:latin typeface="맑은 고딕"/>
              </a:rPr>
              <a:t>Fuse 부위 코팅 단면 분석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9125712" cy="3200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468880"/>
            <a:ext cx="92811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914400"/>
            <a:ext cx="5212080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규격별 측정 결과 (단위: um)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234440"/>
          <a:ext cx="5212079" cy="2240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/>
                <a:gridCol w="548640"/>
                <a:gridCol w="1310335"/>
                <a:gridCol w="1310335"/>
                <a:gridCol w="1311249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규격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샘플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F60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1121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920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910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1138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967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911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F24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965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836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1024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1052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860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1011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미표기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1044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905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992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1009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879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971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4048" y="3566160"/>
            <a:ext cx="5212080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규격별 통계 요약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3886200"/>
          <a:ext cx="521207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310335"/>
                <a:gridCol w="1310335"/>
                <a:gridCol w="1311249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규격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Min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Max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AVG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F60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910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1138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994.5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F24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836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1052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958.0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미표기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879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1044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966.7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836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1138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973.1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486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맑은 고딕"/>
              </a:rPr>
              <a:t>■ Fuse 전체 18개 측정 포인트: 836~1138um 범위에서 안정적으로 분포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3288" y="914400"/>
            <a:ext cx="3776472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대표 시료 사진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33288" y="1344168"/>
            <a:ext cx="3776472" cy="2048255"/>
          </a:xfrm>
          <a:prstGeom prst="rect">
            <a:avLst/>
          </a:prstGeom>
          <a:solidFill>
            <a:srgbClr val="F2F2F2"/>
          </a:solidFill>
          <a:ln w="12700">
            <a:solidFill>
              <a:srgbClr val="B0B0B0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  <a:latin typeface="맑은 고딕"/>
              </a:rPr>
              <a:t>Fuse 외관 사진
(자리 예약)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33288" y="3529584"/>
            <a:ext cx="3776472" cy="2048255"/>
          </a:xfrm>
          <a:prstGeom prst="rect">
            <a:avLst/>
          </a:prstGeom>
          <a:solidFill>
            <a:srgbClr val="F2F2F2"/>
          </a:solidFill>
          <a:ln w="12700">
            <a:solidFill>
              <a:srgbClr val="B0B0B0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  <a:latin typeface="맑은 고딕"/>
              </a:rPr>
              <a:t>Fuse 단면 사진
(자리 예약)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97480" y="164592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●  </a:t>
            </a:r>
            <a:r>
              <a:rPr sz="1700" b="1">
                <a:solidFill>
                  <a:srgbClr val="000000"/>
                </a:solidFill>
                <a:latin typeface="맑은 고딕"/>
              </a:rPr>
              <a:t>Connector 부위 코팅 단면 분석 및 경화율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9125712" cy="3200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468880"/>
            <a:ext cx="92811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914400"/>
            <a:ext cx="5212080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단면 두께 측정 결과 (단위: um)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234440"/>
          <a:ext cx="52120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1143000"/>
                <a:gridCol w="1143000"/>
                <a:gridCol w="1143000"/>
                <a:gridCol w="114300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샘플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689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748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986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954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1303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1191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1145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1119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#3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1198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1198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1191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1204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#4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1063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1171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1237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1249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#5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1321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913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536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608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4048" y="3246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맑은 고딕"/>
              </a:rPr>
              <a:t>■ 전체 20개 포인트: Min 536 / Max 1321 / AVG 1051.2um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3566160"/>
            <a:ext cx="5212080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UV Dose 구간별 경화율(%)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886200"/>
          <a:ext cx="5212079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218895"/>
                <a:gridCol w="1218895"/>
                <a:gridCol w="1219809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Dose 구간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AVG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4000-5000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76.2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76.4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76.3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5000-6000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86.0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85.8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85.9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6000-7000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86.3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88.5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87.4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7000-8000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90.1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91.6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90.85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</a:rPr>
                        <a:t>8000-9000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95.3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96.4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</a:rPr>
                        <a:t>95.85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5852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맑은 고딕"/>
              </a:rPr>
              <a:t>■ UV Dose 증가에 따라 경화율이 76.3%→95.85%로 상승하는 경향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33288" y="914400"/>
            <a:ext cx="3776472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대표 시료 사진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33288" y="1344168"/>
            <a:ext cx="3776472" cy="2048255"/>
          </a:xfrm>
          <a:prstGeom prst="rect">
            <a:avLst/>
          </a:prstGeom>
          <a:solidFill>
            <a:srgbClr val="F2F2F2"/>
          </a:solidFill>
          <a:ln w="12700">
            <a:solidFill>
              <a:srgbClr val="B0B0B0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  <a:latin typeface="맑은 고딕"/>
              </a:rPr>
              <a:t>Connector 외관 사진
(자리 예약)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3288" y="3529584"/>
            <a:ext cx="3776472" cy="2048255"/>
          </a:xfrm>
          <a:prstGeom prst="rect">
            <a:avLst/>
          </a:prstGeom>
          <a:solidFill>
            <a:srgbClr val="F2F2F2"/>
          </a:solidFill>
          <a:ln w="12700">
            <a:solidFill>
              <a:srgbClr val="B0B0B0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  <a:latin typeface="맑은 고딕"/>
              </a:rPr>
              <a:t>Connector 단면 사진
(자리 예약)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97480" y="164592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●  </a:t>
            </a:r>
            <a:r>
              <a:rPr sz="1700" b="1">
                <a:solidFill>
                  <a:srgbClr val="000000"/>
                </a:solidFill>
                <a:latin typeface="맑은 고딕"/>
              </a:rPr>
              <a:t>NTC 부위 코팅 단면 분석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9125712" cy="3200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468880"/>
            <a:ext cx="92811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914400"/>
            <a:ext cx="5212080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단면 두께 측정 결과 (단위: um)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234440"/>
          <a:ext cx="5212078" cy="960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1524304"/>
                <a:gridCol w="1524304"/>
                <a:gridCol w="152339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샘플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측정3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#1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154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159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203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#2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77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86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82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4048" y="23317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맑은 고딕"/>
              </a:rPr>
              <a:t>■ NTC 전체 6개 포인트: Min 77 / Max 203 / AVG 126.8um</a:t>
            </a:r>
          </a:p>
          <a:p>
            <a:r>
              <a:rPr sz="900">
                <a:solidFill>
                  <a:srgbClr val="000000"/>
                </a:solidFill>
                <a:latin typeface="맑은 고딕"/>
              </a:rPr>
              <a:t>■ NTC는 타 부위 대비 코팅 대상 면적이 작아 절대 두께값이 낮게 형성되는 경향</a:t>
            </a:r>
          </a:p>
          <a:p>
            <a:r>
              <a:rPr sz="900">
                <a:solidFill>
                  <a:srgbClr val="000000"/>
                </a:solidFill>
                <a:latin typeface="맑은 고딕"/>
              </a:rPr>
              <a:t>■ 샘플 간 편차(#1 154~203um, #2 77~86um)는 별도 확인 필요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733288" y="914400"/>
            <a:ext cx="3776472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대표 시료 사진</a:t>
            </a:r>
          </a:p>
        </p:txBody>
      </p:sp>
      <p:sp>
        <p:nvSpPr>
          <p:cNvPr id="9" name="Rectangle 8"/>
          <p:cNvSpPr/>
          <p:nvPr/>
        </p:nvSpPr>
        <p:spPr>
          <a:xfrm>
            <a:off x="5733288" y="1344168"/>
            <a:ext cx="3776472" cy="2048255"/>
          </a:xfrm>
          <a:prstGeom prst="rect">
            <a:avLst/>
          </a:prstGeom>
          <a:solidFill>
            <a:srgbClr val="F2F2F2"/>
          </a:solidFill>
          <a:ln w="12700">
            <a:solidFill>
              <a:srgbClr val="B0B0B0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  <a:latin typeface="맑은 고딕"/>
              </a:rPr>
              <a:t>NTC 외관 사진
(자리 예약)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3288" y="3529584"/>
            <a:ext cx="3776472" cy="2048255"/>
          </a:xfrm>
          <a:prstGeom prst="rect">
            <a:avLst/>
          </a:prstGeom>
          <a:solidFill>
            <a:srgbClr val="F2F2F2"/>
          </a:solidFill>
          <a:ln w="12700">
            <a:solidFill>
              <a:srgbClr val="B0B0B0"/>
            </a:solidFill>
            <a:prstDash val="sysDot"/>
          </a:ln>
          <a:effectLst/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808080"/>
                </a:solidFill>
                <a:latin typeface="맑은 고딕"/>
              </a:rPr>
              <a:t>NTC 단면 사진
(자리 예약)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97480" y="164592"/>
            <a:ext cx="6766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●  </a:t>
            </a:r>
            <a:r>
              <a:rPr sz="1700" b="1">
                <a:solidFill>
                  <a:srgbClr val="000000"/>
                </a:solidFill>
                <a:latin typeface="맑은 고딕"/>
              </a:rPr>
              <a:t>종합 결과 및 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" y="731520"/>
            <a:ext cx="9125712" cy="3200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468880"/>
            <a:ext cx="92811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914400"/>
            <a:ext cx="9107424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측정 결과 요약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9107424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49424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부위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Min(um)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Max(um)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AVG(um)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17365D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Sensing Tab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940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1350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1131.2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Fuse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836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1138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973.1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Connector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536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1321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1051.2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NTC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77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203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126.8</a:t>
                      </a:r>
                    </a:p>
                  </a:txBody>
                  <a:tcPr anchor="ctr" marL="27432" marR="27432" marT="18288" marB="18288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4048" y="3200400"/>
            <a:ext cx="9107424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8961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00000"/>
                </a:solidFill>
                <a:latin typeface="맑은 고딕"/>
              </a:rPr>
              <a:t>1. 확립된 도포 Bar 기준을 적용하여 SX3K 코팅 진행 결과, Sensing Tab·Fuse·Connector·NTC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   전 부위 단면 두께가 안정적인 범위 내에서 분포함을 확인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/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2. Connector 부위 UV Dose 구간별 경화율 측정 결과, Dose 증가에 따라 경화율이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   점진적으로 상승(76.3%→95.85%)하며, 목표 Dose 구간(8000-9000)에서 95% 이상의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   안정적인 경화율 확보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/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3. 현재까지 확보된 데이터 기준으로 코팅 조건 확대 적용에 따른 품질 이상 없음 확인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/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4. NTC 부위는 샘플 간 편차(#1 154~203um, #2 77~86um)가 확인되어 원인 확인 권장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5852160"/>
            <a:ext cx="9107424" cy="29260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txBody>
          <a:bodyPr rtlCol="0" anchor="ctr" wrap="square" lIns="73152" tIns="0" bIns="0"/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▣ 향후 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00000"/>
                </a:solidFill>
                <a:latin typeface="맑은 고딕"/>
              </a:rPr>
              <a:t>■ 부위별 대표 시료 사진(외관/단면) 첨부하여 최종본 업데이트</a:t>
            </a:r>
          </a:p>
          <a:p>
            <a:r>
              <a:rPr sz="1000">
                <a:solidFill>
                  <a:srgbClr val="000000"/>
                </a:solidFill>
                <a:latin typeface="맑은 고딕"/>
              </a:rPr>
              <a:t>■ NTC 부위 샘플 간 편차 원인 확인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rtlCol="0" anchor="ctr"/>
      <a:lstStyle>
        <a:defPPr marL="82550" indent="-82550" algn="ctr">
          <a:buFont typeface="Arial" pitchFamily="34" charset="0"/>
          <a:buChar char="•"/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400" smtClean="0">
            <a:latin typeface="+mn-ea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109874</TotalTime>
  <Words>484</Words>
  <Application>Microsoft Office PowerPoint</Application>
  <PresentationFormat>사용자 지정</PresentationFormat>
  <Paragraphs>130</Paragraphs>
  <Slides>5</Slides>
  <Notes>1</Notes>
  <HiddenSlides>0</HiddenSlides>
  <MMClips>0</MMClips>
  <ScaleCrop>false</ScaleCrop>
  <HeadingPairs>
    <vt:vector size="6" baseType="variant">
      <vt:variant>
        <vt:lpstr>테마</vt:lpstr>
      </vt:variant>
      <vt:variant>
        <vt:i4>2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디자인 사용자 지정</vt:lpstr>
      <vt:lpstr>4_Office 테마</vt:lpstr>
      <vt:lpstr>think-cell Slide</vt:lpstr>
      <vt:lpstr>워크시트</vt:lpstr>
      <vt:lpstr>JG EV VOLT SENSING PCB ASSY 센싱탭 솔더링 검증 결과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HMK</dc:creator>
  <cp:lastModifiedBy>user</cp:lastModifiedBy>
  <cp:revision>6745</cp:revision>
  <cp:lastPrinted>2025-03-12T07:54:27Z</cp:lastPrinted>
  <dcterms:created xsi:type="dcterms:W3CDTF">2007-11-12T08:47:06Z</dcterms:created>
  <dcterms:modified xsi:type="dcterms:W3CDTF">2026-01-13T04:36:18Z</dcterms:modified>
</cp:coreProperties>
</file>