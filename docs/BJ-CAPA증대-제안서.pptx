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875520" cy="6858000"/>
  <p:notesSz cx="68580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3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" y="36576"/>
            <a:ext cx="234086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169164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BJ CAPA 증대 제안서</a:t>
            </a: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SMT · 코팅 · 검사 공정 개선을 통한 생산능력 확대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134856" y="3703320"/>
            <a:ext cx="384048" cy="384048"/>
          </a:xfrm>
          <a:prstGeom prst="rect">
            <a:avLst/>
          </a:prstGeom>
          <a:solidFill>
            <a:srgbClr val="336699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3730752"/>
            <a:ext cx="9070848" cy="0"/>
          </a:xfrm>
          <a:prstGeom prst="line">
            <a:avLst/>
          </a:prstGeom>
          <a:noFill/>
          <a:ln w="19050">
            <a:solidFill>
              <a:srgbClr val="3366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794760"/>
            <a:ext cx="2523744" cy="0"/>
          </a:xfrm>
          <a:prstGeom prst="line">
            <a:avLst/>
          </a:prstGeom>
          <a:noFill/>
          <a:ln w="19050">
            <a:solidFill>
              <a:srgbClr val="3366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FPCB 배터리 센싱 모듈(BJ) 생산라인 설비투자 제안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91656" y="502920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EV생산기술팀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91656" y="5486400"/>
            <a:ext cx="3099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2026-08-12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2880" y="6547104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1000" dirty="0"/>
          </a:p>
        </p:txBody>
      </p:sp>
      <p:pic>
        <p:nvPicPr>
          <p:cNvPr id="12" name="Image 1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36" y="6510528"/>
            <a:ext cx="1243584" cy="3081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BJ 제품 및 생산공정 이해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9125712" cy="36576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547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34840" y="65288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6528816"/>
            <a:ext cx="1051560" cy="259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BJ란?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BJ는 FPCB(연성 인쇄회로기판, Flexible PCB) 기반의 배터리 센싱 모듈입니다.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전기차(EV) 배터리팩 내부에 장착되어 각 셀의 전압·온도를 실시간으로 감지하는 핵심 부품으로,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공정을 거쳐 완제품으로 생산됩니다.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" y="2286000"/>
            <a:ext cx="1965960" cy="411480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SMT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" y="2697480"/>
            <a:ext cx="1965960" cy="77724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697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기판에 실장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77440" y="2404872"/>
            <a:ext cx="292608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4" name="Shape 11"/>
          <p:cNvSpPr/>
          <p:nvPr/>
        </p:nvSpPr>
        <p:spPr>
          <a:xfrm>
            <a:off x="2697480" y="2286000"/>
            <a:ext cx="1965960" cy="411480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15" name="Text 12"/>
          <p:cNvSpPr/>
          <p:nvPr/>
        </p:nvSpPr>
        <p:spPr>
          <a:xfrm>
            <a:off x="2697480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1차 코팅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97480" y="2697480"/>
            <a:ext cx="1965960" cy="77724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97480" y="2697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커넥터 부위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절연 코팅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90872" y="2404872"/>
            <a:ext cx="292608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9" name="Shape 16"/>
          <p:cNvSpPr/>
          <p:nvPr/>
        </p:nvSpPr>
        <p:spPr>
          <a:xfrm>
            <a:off x="5010912" y="2286000"/>
            <a:ext cx="1965960" cy="411480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20" name="Text 17"/>
          <p:cNvSpPr/>
          <p:nvPr/>
        </p:nvSpPr>
        <p:spPr>
          <a:xfrm>
            <a:off x="5010912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2차 코팅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10912" y="2697480"/>
            <a:ext cx="1965960" cy="77724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10912" y="2697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센싱탭 · 퓨즈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절연 코팅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04304" y="2404872"/>
            <a:ext cx="292608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24" name="Shape 21"/>
          <p:cNvSpPr/>
          <p:nvPr/>
        </p:nvSpPr>
        <p:spPr>
          <a:xfrm>
            <a:off x="7324344" y="2286000"/>
            <a:ext cx="1965960" cy="411480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7324344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검사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24344" y="2697480"/>
            <a:ext cx="1965960" cy="77724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24344" y="2697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절연저항 ·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검사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324344" y="3611880"/>
            <a:ext cx="196596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/>
          <p:nvPr/>
        </p:nvSpPr>
        <p:spPr>
          <a:xfrm>
            <a:off x="7324344" y="3611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완제품 (BJ)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138160" y="3502152"/>
            <a:ext cx="228600" cy="137160"/>
          </a:xfrm>
          <a:prstGeom prst="downArrow">
            <a:avLst/>
          </a:prstGeom>
          <a:solidFill>
            <a:srgbClr val="17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384048" y="425196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이번 제안서의 핵심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57200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4단계 공정 각각에 생산능력을 제약하는 요인이 있어, 전체 라인의 생산량이 특정 공정에 의해 제한되고 있습니다.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제안서는 4개 공정 각각에 대한 설비투자 개선 방안을 제시하여 BJ 전체 생산능력(CAPA)을 확대하는 것을 목표로 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Executive Summary (핵심 요약)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9125712" cy="36576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547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34840" y="65288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6528816"/>
            <a:ext cx="1051560" cy="259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제안 배경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BJ 생산라인은 SMT → 1차 코팅 → 2차 코팅 → 검사의 4단계로 구성되며,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공정별로 설비 구성의 한계로 인해 전체 라인 생산능력이 제약받고 있습니다.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196596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제안 전략 (4가지)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96112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구조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방법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SMT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싱글 리플로우 (1대)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듀얼 리플로우 (2대) 도입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1차 코팅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싱글노즐 설비 1대 (2개 제품/회)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듀얼노즐 설비 2대로 증설 (4개 제품/회)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2차 코팅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 라인 (코팅기 3대+경화기)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구조 병렬 라인 1개 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검사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 라인 (HIPOT+EOL)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BJ 전용 라인 1개 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84048" y="443484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기대 효과 및 투자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475488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기대효과: 4개 공정 병목 해소를 통한 BJ 전체 라인 생산능력(CAPA) 확대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투자규모: 공정별 설비 견적 확보 후 확정 예정 (2차 코팅 라인은 동일사양 참고 견적 보유)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특징: 4개 전략은 서로 독립적으로 실행 가능하여 우선순위에 따라 단계적 투자 가능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[전략 1] SMT 라인 - 싱글 리플로우 → 듀얼 리플로우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9125712" cy="36576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547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34840" y="65288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pic>
        <p:nvPicPr>
          <p:cNvPr id="6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6528816"/>
            <a:ext cx="1051560" cy="259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공정 설명 (리플로우란?)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리플로우(Reflow)는 SMT(표면실장) 공정에서 기판에 부품을 고정하기 위해 납(솔더 페이스트)을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고온으로 녹여 접합하는 오븐 설비입니다. 모든 기판이 이 오븐 1대를 순차적으로 통과해야 하므로,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리플로우 오븐의 처리 속도가 SMT 공정 전체, 나아가 라인 전체의 생산 속도를 좌우합니다.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(싱글 리플로우)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1188720" cy="54864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651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37360" y="2788920"/>
            <a:ext cx="320040" cy="27432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3" name="Shape 10"/>
          <p:cNvSpPr/>
          <p:nvPr/>
        </p:nvSpPr>
        <p:spPr>
          <a:xfrm>
            <a:off x="2148840" y="2651760"/>
            <a:ext cx="1828800" cy="548640"/>
          </a:xfrm>
          <a:prstGeom prst="rect">
            <a:avLst/>
          </a:prstGeom>
          <a:solidFill>
            <a:srgbClr val="F9E0DE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리플로우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오븐 1대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069080" y="2788920"/>
            <a:ext cx="320040" cy="27432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6" name="Shape 13"/>
          <p:cNvSpPr/>
          <p:nvPr/>
        </p:nvSpPr>
        <p:spPr>
          <a:xfrm>
            <a:off x="4480560" y="2651760"/>
            <a:ext cx="1188720" cy="54864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2651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3337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오븐 1대에 전량 집중, 처리 속도 제한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3840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 (듀얼 리플로우)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206240"/>
            <a:ext cx="914400" cy="45720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기판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417320" y="4315968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23" name="Shape 20"/>
          <p:cNvSpPr/>
          <p:nvPr/>
        </p:nvSpPr>
        <p:spPr>
          <a:xfrm>
            <a:off x="1737360" y="4206240"/>
            <a:ext cx="1554480" cy="36576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37360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리플로우 오븐 A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737360" y="4617720"/>
            <a:ext cx="1554480" cy="36576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737360" y="4617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리플로우 오븐 B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337560" y="4315968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28" name="Shape 25"/>
          <p:cNvSpPr/>
          <p:nvPr/>
        </p:nvSpPr>
        <p:spPr>
          <a:xfrm>
            <a:off x="3337560" y="4727448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29" name="Shape 26"/>
          <p:cNvSpPr/>
          <p:nvPr/>
        </p:nvSpPr>
        <p:spPr>
          <a:xfrm>
            <a:off x="3657600" y="4206240"/>
            <a:ext cx="914400" cy="77724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42062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5720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2대 병렬 운영으로 동시 처리, 리플로우 병목 해소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943600" y="2286000"/>
            <a:ext cx="352958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기대 효과 및 투자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943600" y="2651760"/>
            <a:ext cx="35295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리플로우 병목 해소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SMT 공정 처리량 증대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라인 전체 생산속도 향상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투자규모: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(견적 확보 후 기입)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우선순위: 1순위 검토 대상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[전략 2] 1차 코팅 - 싱글노즐 → 듀얼노즐 + 설비 증설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9125712" cy="36576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547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34840" y="65288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6528816"/>
            <a:ext cx="1051560" cy="259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공정 설명 (1차 코팅이란?)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코팅은 FPCB의 커넥터 부위에 절연 코팅액을 도포하여 방수·절연 성능을 부여하는 공정입니다.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노즐을 통해 코팅액을 분사하는 방식으로, 노즐 개수와 설비 대수가 곧 처리량을 결정합니다.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4023360" cy="457200"/>
          </a:xfrm>
          <a:prstGeom prst="rect">
            <a:avLst/>
          </a:prstGeom>
          <a:solidFill>
            <a:srgbClr val="F9E0DE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코팅설비 1대 (싱글 노즐)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192024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노즐 1개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377440" y="29260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43200" y="2926080"/>
            <a:ext cx="173736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2개 코팅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(회당 처리량: 2개 제품)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20640" y="2103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20640" y="2423160"/>
            <a:ext cx="1920240" cy="45720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(듀얼 노즐)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23760" y="2423160"/>
            <a:ext cx="1920240" cy="45720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2376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B (신규)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(듀얼 노즐)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120640" y="2926080"/>
            <a:ext cx="192024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2개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223760" y="2926080"/>
            <a:ext cx="192024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2376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2개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2064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(회당 처리량: 4개 제품 = 설비 2대 × 2개)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84048" y="397764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개선 개념도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389120"/>
            <a:ext cx="1463040" cy="457200"/>
          </a:xfrm>
          <a:prstGeom prst="rect">
            <a:avLst/>
          </a:prstGeom>
          <a:solidFill>
            <a:srgbClr val="F9E0DE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389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 · 1노즐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처리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011680" y="4480560"/>
            <a:ext cx="457200" cy="27432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32" name="Shape 29"/>
          <p:cNvSpPr/>
          <p:nvPr/>
        </p:nvSpPr>
        <p:spPr>
          <a:xfrm>
            <a:off x="2560320" y="4389120"/>
            <a:ext cx="1828800" cy="457200"/>
          </a:xfrm>
          <a:prstGeom prst="rect">
            <a:avLst/>
          </a:prstGeom>
          <a:solidFill>
            <a:srgbClr val="FFF3CD"/>
          </a:solidFill>
          <a:ln w="16510">
            <a:solidFill>
              <a:srgbClr val="B886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032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노즐 교체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설비 1대 추가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480560" y="4480560"/>
            <a:ext cx="457200" cy="27432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35" name="Shape 32"/>
          <p:cNvSpPr/>
          <p:nvPr/>
        </p:nvSpPr>
        <p:spPr>
          <a:xfrm>
            <a:off x="5029200" y="4389120"/>
            <a:ext cx="1920240" cy="45720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29200" y="4389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2대 · 듀얼노즐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처리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5029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기대효과: 1차 코팅 처리량 2배 확대 (2개 → 4개 제품/회)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투자규모:                              (견적 확보 후 기입)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우선순위: 코팅액 도포 균일도 사전 검증 필요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[전략 3] 2차 코팅 - 병렬 라인 추가 (센싱탭·퓨즈 코팅)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9125712" cy="36576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547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34840" y="65288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6528816"/>
            <a:ext cx="1051560" cy="259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공정 설명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코팅은 센싱탭과 퓨즈 부위에 절연 코팅액을 도포하는 공정입니다. 지그가 엘리베이터로 투입되어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하부 컨베이어를 따라 코팅기 3대(경화기 부착)를 순차 통과하며 순환하는 구조로 운영됩니다.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라인 구조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105156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86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554480" y="2377440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3" name="Shape 10"/>
          <p:cNvSpPr/>
          <p:nvPr/>
        </p:nvSpPr>
        <p:spPr>
          <a:xfrm>
            <a:off x="1874520" y="2286000"/>
            <a:ext cx="105156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74520" y="2286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안착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컨베이어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971800" y="2377440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6" name="Shape 13"/>
          <p:cNvSpPr/>
          <p:nvPr/>
        </p:nvSpPr>
        <p:spPr>
          <a:xfrm>
            <a:off x="3291840" y="2286000"/>
            <a:ext cx="1051560" cy="502920"/>
          </a:xfrm>
          <a:prstGeom prst="rect">
            <a:avLst/>
          </a:prstGeom>
          <a:solidFill>
            <a:srgbClr val="FFF3CD"/>
          </a:solidFill>
          <a:ln w="16510">
            <a:solidFill>
              <a:srgbClr val="B886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2286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코팅기 #1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+경화기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389120" y="2377440"/>
            <a:ext cx="256032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9" name="Shape 16"/>
          <p:cNvSpPr/>
          <p:nvPr/>
        </p:nvSpPr>
        <p:spPr>
          <a:xfrm>
            <a:off x="4690872" y="2286000"/>
            <a:ext cx="1051560" cy="502920"/>
          </a:xfrm>
          <a:prstGeom prst="rect">
            <a:avLst/>
          </a:prstGeom>
          <a:solidFill>
            <a:srgbClr val="FFF3CD"/>
          </a:solidFill>
          <a:ln w="16510">
            <a:solidFill>
              <a:srgbClr val="B886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2286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코팅기 #2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+경화기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88152" y="2377440"/>
            <a:ext cx="256032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22" name="Shape 19"/>
          <p:cNvSpPr/>
          <p:nvPr/>
        </p:nvSpPr>
        <p:spPr>
          <a:xfrm>
            <a:off x="6089904" y="2286000"/>
            <a:ext cx="1051560" cy="502920"/>
          </a:xfrm>
          <a:prstGeom prst="rect">
            <a:avLst/>
          </a:prstGeom>
          <a:solidFill>
            <a:srgbClr val="FFF3CD"/>
          </a:solidFill>
          <a:ln w="16510">
            <a:solidFill>
              <a:srgbClr val="B886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9904" y="2286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코팅기 #3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+경화기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187184" y="2377440"/>
            <a:ext cx="256032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25" name="Shape 22"/>
          <p:cNvSpPr/>
          <p:nvPr/>
        </p:nvSpPr>
        <p:spPr>
          <a:xfrm>
            <a:off x="7488936" y="2286000"/>
            <a:ext cx="105156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88936" y="2286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탈착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컨베이어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283464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(하부 컨베이어로 지그 순환 → 투입 엘리베이터로 복귀)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7200" y="32461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개선안: 동일 구조 병렬 라인 1개 추가 (2개 라인 동시 운영)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3566160"/>
            <a:ext cx="8503920" cy="32004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566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라인 (Line 1) - 위와 동일 구조 유지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7200" y="3931920"/>
            <a:ext cx="8503920" cy="32004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931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라인 (Line 2) - 동일 구조로 병렬 추가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84048" y="443484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참고 설비 구성 (동일사양 SX3K 견적 기준)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4754880" cy="146304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 코팅기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Mi-1400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Tilt 코팅기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Mi-1600TG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UV 경화기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MC-2000UV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Loader / UnLoader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AJRLD-150U / AWT-150U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/ 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5394960" y="475488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참고 투자규모: 약 51,612만원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(SX3K 동일사양 견적 기준, 2026-08-07)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BJ 전용 확정 견적은 별도 확보 필요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57200" y="630936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코팅액/설비 재원: Shin Kwang Chemicals HB-2U1S-04, Micro Line Niddle-Valve (JG EV 라인과 동일 사양)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[전략 4] 검사 라인 - BJ 전용 라인 추가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9125712" cy="36576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547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34840" y="65288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6528816"/>
            <a:ext cx="1051560" cy="259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공정 설명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공정은 절연저항검사(HIPOT)와 기능검사(EOL)를 통해 제품의 양불을 최종 판정합니다.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지그가 엘리베이터로 투입되어 하부 컨베이어를 따라 순환하며 각 검사 설비를 순차 통과합니다.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HIPOT·EOL 설비는 Set-Up이 완료되어 정상 가동 중입니다 (셋업 결과: 만족).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라인 구조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118872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560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691640" y="2651760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2560320"/>
            <a:ext cx="118872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0" y="2560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안착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컨베이어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46120" y="2651760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6" name="Shape 13"/>
          <p:cNvSpPr/>
          <p:nvPr/>
        </p:nvSpPr>
        <p:spPr>
          <a:xfrm>
            <a:off x="3566160" y="2560320"/>
            <a:ext cx="1371600" cy="502920"/>
          </a:xfrm>
          <a:prstGeom prst="rect">
            <a:avLst/>
          </a:prstGeom>
          <a:solidFill>
            <a:srgbClr val="FFF3CD"/>
          </a:solidFill>
          <a:ln w="16510">
            <a:solidFill>
              <a:srgbClr val="B886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절연저항검사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(HIPOT)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983480" y="2651760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19" name="Shape 16"/>
          <p:cNvSpPr/>
          <p:nvPr/>
        </p:nvSpPr>
        <p:spPr>
          <a:xfrm>
            <a:off x="5303520" y="2560320"/>
            <a:ext cx="1188720" cy="502920"/>
          </a:xfrm>
          <a:prstGeom prst="rect">
            <a:avLst/>
          </a:prstGeom>
          <a:solidFill>
            <a:srgbClr val="FFF3CD"/>
          </a:solidFill>
          <a:ln w="16510">
            <a:solidFill>
              <a:srgbClr val="B886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0" y="2560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기능검사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(EOL)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537960" y="2651760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0" y="2560320"/>
            <a:ext cx="118872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2560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탈착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컨베이어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092440" y="2651760"/>
            <a:ext cx="274320" cy="228600"/>
          </a:xfrm>
          <a:prstGeom prst="rightArrow">
            <a:avLst/>
          </a:prstGeom>
          <a:solidFill>
            <a:srgbClr val="17365D"/>
          </a:solidFill>
          <a:ln/>
        </p:spPr>
      </p:sp>
      <p:sp>
        <p:nvSpPr>
          <p:cNvPr id="25" name="Shape 22"/>
          <p:cNvSpPr/>
          <p:nvPr/>
        </p:nvSpPr>
        <p:spPr>
          <a:xfrm>
            <a:off x="8412480" y="2560320"/>
            <a:ext cx="1005840" cy="502920"/>
          </a:xfrm>
          <a:prstGeom prst="rect">
            <a:avLst/>
          </a:prstGeom>
          <a:solidFill>
            <a:srgbClr val="E7F0F7"/>
          </a:solidFill>
          <a:ln w="16510">
            <a:solidFill>
              <a:srgbClr val="0070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12480" y="2560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57200" y="310896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(하부 컨베이어로 지그 순환 → 투입 엘리베이터로 복귀)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7200" y="352044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개선안: BJ 전용 동일 구조 라인 1개 추가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8503920" cy="32004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8404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라인 - 위와 동일 구조 유지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7200" y="4206240"/>
            <a:ext cx="8503920" cy="320040"/>
          </a:xfrm>
          <a:prstGeom prst="rect">
            <a:avLst/>
          </a:prstGeom>
          <a:solidFill>
            <a:srgbClr val="DCEDC8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4206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BJ 전용 라인 - 동일 구조로 추가 (HIPOT + EOL)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84048" y="470916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기대 효과 및 투자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5029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기대효과: 검사 공정 CAPA 확대, BJ 전용 라인으로 타 기종 검사와의 간섭 해소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참고: HIPOT Test Machine·EOL Test Machine은 이미 Set-Up 완료 및 가동 검증된 설비 사양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투자규모:                              (견적 확보 후 기입)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종합 정리 - 4대 전략 요약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9125712" cy="36576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547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34840" y="65288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6528816"/>
            <a:ext cx="1051560" cy="25969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9107424" cy="201168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2926080"/>
                <a:gridCol w="2157984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방법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 효과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투자규모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SMT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싱글→듀얼 리플로우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리플로우 병목 해소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(견적 확보 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코팅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싱글→듀얼노즐 + 설비 1대 증설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처리량 2배 (2→4개/회)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(견적 확보 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코팅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동일구조 병렬 라인 추가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코팅 CAPA 2배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참고 약 51,612만원*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BJ 전용 라인 추가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CAPA 확대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(견적 확보 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2971800"/>
            <a:ext cx="9107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2차 코팅은 SX3K 프로젝트 동일사양 견적(2026-08-07) 참고치이며, BJ 전용 확정 견적은 별도입니다.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84048" y="338328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4대 전략 공통 특징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37033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4개 전략은 서로 다른 공정을 대상으로 하여 독립적으로 실행 가능 (우선순위별 단계 투자 가능)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2차 코팅·검사 라인은 기존 라인과 동일한 구조를 그대로 복제하는 방식으로, 설계·검증 리스크가 낮음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SMT·1차 코팅은 기존 설비 라인 내에서 증설하는 방식으로 신규 공간 소요가 상대적으로 적음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84048" y="484632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다음 단계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516636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공정별 설비 협력사 견적 확보 (SMT 리플로우, 1차 코팅 듀얼노즐 설비, 검사 설비)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견적 확보 후 투자규모·회수기간 산출하여 경제성 분석 별도 보고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우선순위 협의 후 단계별 실행 계획 수립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결론 및 권고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9125712" cy="36576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547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 Solution Company with Advanced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34840" y="65288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Image 0" descr="/tmp/claude-0/-home-user-kingbambbang/ab2dcd5d-fab8-57d4-aa5e-24b0cf4864e7/scratchpad/glowon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6528816"/>
            <a:ext cx="1051560" cy="259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핵심 결론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BJ 생산라인(SMT → 1차코팅 → 2차코팅 → 검사) 4개 공정 모두 설비 증설을 통한 CAPA 확대 여지가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SMT 듀얼 리플로우, 1차 코팅 듀얼노즐+설비 증설은 기존 라인 내 증설로 상대적으로 실행이 용이합니다.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2차 코팅·검사 라인은 기존 라인과 동일 구조를 병렬로 추가하는 방식이므로 설계 리스크가 낮고,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2차 코팅은 동일사양 참고 견적(약 51,612만원)이 이미 확보되어 있어 검토 속도를 높일 수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나머지 공정(SMT, 1차 코팅, 검사)의 투자규모는 협력사 견적 확보 후 확정할 예정입니다.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3291840"/>
            <a:ext cx="9107424" cy="292608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권고사항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61188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4개 전략에 대한 설비 협력사 견적을 동시에 요청하여 검토 기간 단축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2차 코팅 라인부터 우선 검토 착수 (참고 견적 보유로 의사결정 속도 확보)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견적 확보 후 투자규모·회수기간을 포함한 경제성 분석을 별도 보고서로 제공 예정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2026-08-12T00:40:35Z</dcterms:created>
  <dcterms:modified xsi:type="dcterms:W3CDTF">2026-08-12T00:40:35Z</dcterms:modified>
</cp:coreProperties>
</file>