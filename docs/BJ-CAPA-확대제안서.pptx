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73152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EC4899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BJ EV 검사기 모듈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능력 확대 전략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공정 동시 최적화로 2배 생산 능력 달성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 생산기술팀 | 2026년 8월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생산의 병목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2560320"/>
          </a:xfrm>
          <a:prstGeom prst="roundRect">
            <a:avLst/>
          </a:prstGeom>
          <a:solidFill>
            <a:srgbClr val="EC4899">
              <a:alpha val="9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리플로우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처리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2560320"/>
          </a:xfrm>
          <a:prstGeom prst="roundRect">
            <a:avLst/>
          </a:prstGeom>
          <a:solidFill>
            <a:srgbClr val="F97316">
              <a:alpha val="90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280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 능력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1920240" cy="2560320"/>
          </a:xfrm>
          <a:prstGeom prst="roundRect">
            <a:avLst/>
          </a:prstGeom>
          <a:solidFill>
            <a:srgbClr val="EC4899">
              <a:alpha val="9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80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중심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1097280"/>
            <a:ext cx="1920240" cy="2560320"/>
          </a:xfrm>
          <a:prstGeom prst="roundRect">
            <a:avLst/>
          </a:prstGeom>
          <a:solidFill>
            <a:srgbClr val="06B6D4">
              <a:alpha val="9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280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(HIPOT/EOL)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2103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2084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수준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1005840"/>
          </a:xfrm>
          <a:prstGeom prst="roundRect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최저 생산능력(1차 코팅 300 UPH)에 의해 전체 라인이 제약됨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SMT 리플로우 이중화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41248" y="1371600"/>
            <a:ext cx="685800" cy="457200"/>
          </a:xfrm>
          <a:prstGeom prst="roundRect">
            <a:avLst/>
          </a:prstGeom>
          <a:solidFill>
            <a:srgbClr val="EC4899">
              <a:alpha val="80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545336" y="1527048"/>
            <a:ext cx="73152" cy="146304"/>
          </a:xfrm>
          <a:prstGeom prst="rightArrow">
            <a:avLst/>
          </a:prstGeom>
          <a:solidFill>
            <a:srgbClr val="EC4899"/>
          </a:solidFill>
          <a:ln/>
        </p:spPr>
      </p:sp>
      <p:sp>
        <p:nvSpPr>
          <p:cNvPr id="7" name="Shape 5"/>
          <p:cNvSpPr/>
          <p:nvPr/>
        </p:nvSpPr>
        <p:spPr>
          <a:xfrm>
            <a:off x="1636776" y="1371600"/>
            <a:ext cx="685800" cy="457200"/>
          </a:xfrm>
          <a:prstGeom prst="roundRect">
            <a:avLst/>
          </a:prstGeom>
          <a:solidFill>
            <a:srgbClr val="EC4899">
              <a:alpha val="80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36776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Reflow ×1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40864" y="1527048"/>
            <a:ext cx="73152" cy="146304"/>
          </a:xfrm>
          <a:prstGeom prst="rightArrow">
            <a:avLst/>
          </a:prstGeom>
          <a:solidFill>
            <a:srgbClr val="EC4899"/>
          </a:solidFill>
          <a:ln/>
        </p:spPr>
      </p:sp>
      <p:sp>
        <p:nvSpPr>
          <p:cNvPr id="10" name="Shape 8"/>
          <p:cNvSpPr/>
          <p:nvPr/>
        </p:nvSpPr>
        <p:spPr>
          <a:xfrm>
            <a:off x="2432304" y="1371600"/>
            <a:ext cx="685800" cy="457200"/>
          </a:xfrm>
          <a:prstGeom prst="roundRect">
            <a:avLst/>
          </a:prstGeom>
          <a:solidFill>
            <a:srgbClr val="EC4899">
              <a:alpha val="80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36392" y="1527048"/>
            <a:ext cx="73152" cy="146304"/>
          </a:xfrm>
          <a:prstGeom prst="rightArrow">
            <a:avLst/>
          </a:prstGeom>
          <a:solidFill>
            <a:srgbClr val="EC489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27832" y="1371600"/>
            <a:ext cx="685800" cy="457200"/>
          </a:xfrm>
          <a:prstGeom prst="roundRect">
            <a:avLst/>
          </a:prstGeom>
          <a:solidFill>
            <a:srgbClr val="EC4899">
              <a:alpha val="80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30368" y="1371600"/>
            <a:ext cx="685800" cy="457200"/>
          </a:xfrm>
          <a:prstGeom prst="roundRect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34456" y="1527048"/>
            <a:ext cx="73152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6025896" y="1371600"/>
            <a:ext cx="685800" cy="457200"/>
          </a:xfrm>
          <a:prstGeom prst="roundRect">
            <a:avLst/>
          </a:prstGeom>
          <a:solidFill>
            <a:srgbClr val="10B981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Reflow ×2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9984" y="1527048"/>
            <a:ext cx="73152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6821424" y="1371600"/>
            <a:ext cx="685800" cy="457200"/>
          </a:xfrm>
          <a:prstGeom prst="roundRect">
            <a:avLst/>
          </a:prstGeom>
          <a:solidFill>
            <a:srgbClr val="10B981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525512" y="1527048"/>
            <a:ext cx="73152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7616952" y="1371600"/>
            <a:ext cx="685800" cy="457200"/>
          </a:xfrm>
          <a:prstGeom prst="roundRect">
            <a:avLst/>
          </a:prstGeom>
          <a:solidFill>
            <a:srgbClr val="10B981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8229600" cy="1920240"/>
          </a:xfrm>
          <a:prstGeom prst="roundRect">
            <a:avLst/>
          </a:prstGeom>
          <a:solidFill>
            <a:srgbClr val="6366F1">
              <a:alpha val="95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 효과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424 UPH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9748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20040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800+ UPH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20640" y="3429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+88%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440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Cycle Time: 8.5s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97480" y="400507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040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20640" y="3931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-49%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8368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처리량 2배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리드타임 단축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병목 해소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코팅 공정 개선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현황: 단일 노즐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286000"/>
          </a:xfrm>
          <a:prstGeom prst="roundRect">
            <a:avLst/>
          </a:prstGeom>
          <a:solidFill>
            <a:srgbClr val="EC4899">
              <a:alpha val="9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55448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54480" y="2194560"/>
            <a:ext cx="54864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194560"/>
            <a:ext cx="54864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×2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UPH: 300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89120" y="2560320"/>
            <a:ext cx="548640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개선안: 이중 노즐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3840480" cy="2286000"/>
          </a:xfrm>
          <a:prstGeom prst="roundRect">
            <a:avLst/>
          </a:prstGeom>
          <a:solidFill>
            <a:srgbClr val="10B981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5544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5544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2194560"/>
            <a:ext cx="457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94560"/>
            <a:ext cx="457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194560"/>
            <a:ext cx="457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194560"/>
            <a:ext cx="457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×4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UPH: 600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동시 상품 ×2 증대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UPH 300→600 (+100%)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Cycle Time 50% 단축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코팅 병렬 라인 추가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914400"/>
          </a:xfrm>
          <a:prstGeom prst="roundRect">
            <a:avLst/>
          </a:prstGeom>
          <a:solidFill>
            <a:srgbClr val="EC4899">
              <a:alpha val="85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×1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Mi-1400×1 + UV×1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UPH: 343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828800"/>
            <a:ext cx="457200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640080"/>
          </a:xfrm>
          <a:prstGeom prst="round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1: Mi-1400×1 + UV×1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148840"/>
            <a:ext cx="3840480" cy="640080"/>
          </a:xfrm>
          <a:prstGeom prst="round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2: Mi-1400×1 + UV×1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UPH: 686+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투입 설비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Mi-1400 ×2 코팅기  |  Mi-1600TG ×1 (Tilt)  |  MC-2000UV ×1 경화기  |  Loader/UnLoader ×1세트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투자: 약 516,000만원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라인 자동화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1645920"/>
          </a:xfrm>
          <a:prstGeom prst="roundRect">
            <a:avLst/>
          </a:prstGeom>
          <a:solidFill>
            <a:srgbClr val="EC4899">
              <a:alpha val="8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2011680" cy="1645920"/>
          </a:xfrm>
          <a:prstGeom prst="round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965960"/>
            <a:ext cx="365760" cy="18288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+35%p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프로세스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828800" cy="914400"/>
          </a:xfrm>
          <a:prstGeom prst="roundRect">
            <a:avLst/>
          </a:prstGeom>
          <a:solidFill>
            <a:srgbClr val="10B981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Elevator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3657600"/>
            <a:ext cx="1828800" cy="914400"/>
          </a:xfrm>
          <a:prstGeom prst="roundRect">
            <a:avLst/>
          </a:prstGeom>
          <a:solidFill>
            <a:srgbClr val="10B981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5176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HIPOT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3657600"/>
            <a:ext cx="1828800" cy="914400"/>
          </a:xfrm>
          <a:prstGeom prst="roundRect">
            <a:avLst/>
          </a:prstGeom>
          <a:solidFill>
            <a:srgbClr val="10B981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6344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3657600"/>
            <a:ext cx="1828800" cy="914400"/>
          </a:xfrm>
          <a:prstGeom prst="roundRect">
            <a:avLst/>
          </a:prstGeom>
          <a:solidFill>
            <a:srgbClr val="10B981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7512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Ejection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CAPA UP 효과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2926080"/>
          </a:xfrm>
          <a:prstGeom prst="roundRect">
            <a:avLst/>
          </a:prstGeom>
          <a:solidFill>
            <a:srgbClr val="EC4899">
              <a:alpha val="95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85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2423160"/>
            <a:ext cx="548640" cy="228600"/>
          </a:xfrm>
          <a:prstGeom prst="downArrow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+88%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14600" y="1097280"/>
            <a:ext cx="1920240" cy="2926080"/>
          </a:xfrm>
          <a:prstGeom prst="roundRect">
            <a:avLst/>
          </a:prstGeom>
          <a:solidFill>
            <a:srgbClr val="F97316">
              <a:alpha val="95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691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19385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2423160"/>
            <a:ext cx="548640" cy="228600"/>
          </a:xfrm>
          <a:prstGeom prst="downArrow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3035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097280"/>
            <a:ext cx="1920240" cy="2926080"/>
          </a:xfrm>
          <a:prstGeom prst="roundRect">
            <a:avLst/>
          </a:prstGeom>
          <a:solidFill>
            <a:srgbClr val="EC4899">
              <a:alpha val="95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19385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2423160"/>
            <a:ext cx="548640" cy="228600"/>
          </a:xfrm>
          <a:prstGeom prst="downArrow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3035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6344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1097280"/>
            <a:ext cx="1920240" cy="2926080"/>
          </a:xfrm>
          <a:prstGeom prst="roundRect">
            <a:avLst/>
          </a:prstGeom>
          <a:solidFill>
            <a:srgbClr val="06B6D4">
              <a:alpha val="95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1691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19385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315200" y="2423160"/>
            <a:ext cx="548640" cy="228600"/>
          </a:xfrm>
          <a:prstGeom prst="downArrow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3035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2084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+88%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8229600" cy="685800"/>
          </a:xfrm>
          <a:prstGeom prst="roundRect">
            <a:avLst/>
          </a:prstGeom>
          <a:solidFill>
            <a:srgbClr val="6366F1">
              <a:alpha val="90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목표 생산 능력: 700+ UPH (현재 대비 2배 이상) | 모든 병목 공정 동시 해소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A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일정 &amp; 투자 규모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oundRect">
            <a:avLst/>
          </a:prstGeom>
          <a:solidFill>
            <a:srgbClr val="EC4899">
              <a:alpha val="85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SMT 이중화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056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8월~9월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₩5억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94360"/>
          </a:xfrm>
          <a:prstGeom prst="roundRect">
            <a:avLst/>
          </a:prstGeom>
          <a:solidFill>
            <a:srgbClr val="F97316">
              <a:alpha val="85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코팅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9월~10월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965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₩2억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94360"/>
          </a:xfrm>
          <a:prstGeom prst="round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97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코팅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10월~12월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₩52억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94360"/>
          </a:xfrm>
          <a:prstGeom prst="roundRect">
            <a:avLst/>
          </a:prstGeom>
          <a:solidFill>
            <a:srgbClr val="06B6D4">
              <a:alpha val="85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29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5448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자동화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11월~1월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429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₩12억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총 투자 규모: 약 701,000만원  |  ROI: 2년 내 회수 예상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6400800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2743200" cy="274320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731520"/>
          </a:xfrm>
          <a:prstGeom prst="roundRect">
            <a:avLst/>
          </a:prstGeom>
          <a:solidFill>
            <a:srgbClr val="06B6D4">
              <a:alpha val="8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능력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→ 700+ UPH (2배 이상)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4114800" cy="731520"/>
          </a:xfrm>
          <a:prstGeom prst="roundRect">
            <a:avLst/>
          </a:prstGeom>
          <a:solidFill>
            <a:srgbClr val="EC4899">
              <a:alpha val="8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8988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해소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642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SMT·1차·2차·검사 균형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114800" cy="731520"/>
          </a:xfrm>
          <a:prstGeom prst="roundRect">
            <a:avLst/>
          </a:prstGeom>
          <a:solidFill>
            <a:srgbClr val="06B6D4">
              <a:alpha val="8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5856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532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→ 95% 자동화율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4114800" cy="731520"/>
          </a:xfrm>
          <a:prstGeom prst="roundRect">
            <a:avLst/>
          </a:prstGeom>
          <a:solidFill>
            <a:srgbClr val="EC4899">
              <a:alpha val="8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5856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✨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532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 라인으로 안정성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4114800" cy="731520"/>
          </a:xfrm>
          <a:prstGeom prst="roundRect">
            <a:avLst/>
          </a:prstGeom>
          <a:solidFill>
            <a:srgbClr val="06B6D4">
              <a:alpha val="8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12724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3401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2년 내 투자 회수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731520"/>
          </a:xfrm>
          <a:prstGeom prst="round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공정을 동시에 최적화하여 안정적인 고생산 능력 라인 구성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2026-08-11T22:55:42Z</dcterms:created>
  <dcterms:modified xsi:type="dcterms:W3CDTF">2026-08-11T22:55:42Z</dcterms:modified>
</cp:coreProperties>
</file>