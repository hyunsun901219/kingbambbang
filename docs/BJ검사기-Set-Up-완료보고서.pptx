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64592"/>
            <a:ext cx="2313432" cy="651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805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805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840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1495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805" dirty="0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25400">
            <a:solidFill>
              <a:srgbClr val="00A65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148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 EV </a:t>
            </a:r>
            <a:pPr algn="ctr" indent="0" marL="0">
              <a:buNone/>
            </a:pPr>
            <a:r>
              <a:rPr lang="en-US" sz="2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검사기 </a:t>
            </a:r>
            <a:pPr algn="ctr" indent="0" marL="0">
              <a:buNone/>
            </a:pPr>
            <a:r>
              <a:rPr lang="en-US" sz="2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Set-Up </a:t>
            </a:r>
            <a:pPr algn="ctr" indent="0" marL="0">
              <a:buNone/>
            </a:pPr>
            <a:r>
              <a:rPr lang="en-US" sz="2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 보고서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914400" y="2880360"/>
            <a:ext cx="7315200" cy="0"/>
          </a:xfrm>
          <a:prstGeom prst="line">
            <a:avLst/>
          </a:prstGeom>
          <a:noFill/>
          <a:ln w="15875">
            <a:solidFill>
              <a:srgbClr val="447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21040" y="2633472"/>
            <a:ext cx="201168" cy="201168"/>
          </a:xfrm>
          <a:prstGeom prst="rect">
            <a:avLst/>
          </a:prstGeom>
          <a:solidFill>
            <a:srgbClr val="2E5B9F"/>
          </a:solidFill>
          <a:ln/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331720" y="3657600"/>
          <a:ext cx="448056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822960"/>
                <a:gridCol w="822960"/>
                <a:gridCol w="822960"/>
                <a:gridCol w="822960"/>
                <a:gridCol w="822960"/>
              </a:tblGrid>
              <a:tr h="292608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작성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부문장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852160" y="56235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EV생산기술팀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852160" y="59253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년  8 월  5 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7635240" y="6419088"/>
            <a:ext cx="1247242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34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434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92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806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43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설비 셋업 LAY OUT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554480" cy="310896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77724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 라인 LAY OUT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8321040" cy="493776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11480" y="3520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레이아웃 도면 / 사진 삽입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635240" y="6419088"/>
            <a:ext cx="1247242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34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434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92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806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434" dirty="0"/>
          </a:p>
        </p:txBody>
      </p:sp>
      <p:sp>
        <p:nvSpPr>
          <p:cNvPr id="10" name="Text 8"/>
          <p:cNvSpPr/>
          <p:nvPr/>
        </p:nvSpPr>
        <p:spPr>
          <a:xfrm>
            <a:off x="4206240" y="65105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내전압&amp;절연저항 검사기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77240"/>
          <a:ext cx="841248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691640"/>
                <a:gridCol w="731520"/>
                <a:gridCol w="1463040"/>
                <a:gridCol w="960120"/>
                <a:gridCol w="1463040"/>
                <a:gridCol w="502920"/>
                <a:gridCol w="8229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공정명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내전압&amp;절연저항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검사기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설비명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HIPOT Test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Machine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설비 모델명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HIPOT Test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Machine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S/N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S/N ]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365760" y="1417320"/>
            <a:ext cx="4114800" cy="26974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dash"/>
          </a:ln>
        </p:spPr>
      </p:sp>
      <p:sp>
        <p:nvSpPr>
          <p:cNvPr id="5" name="Text 2"/>
          <p:cNvSpPr/>
          <p:nvPr/>
        </p:nvSpPr>
        <p:spPr>
          <a:xfrm>
            <a:off x="365760" y="25374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설비 사진 삽입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663440" y="1417320"/>
            <a:ext cx="4114800" cy="26974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4663440" y="25374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설비 화면 사진 삽입</a:t>
            </a:r>
            <a:endParaRPr lang="en-US" sz="12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343400"/>
          <a:ext cx="84124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772400"/>
              </a:tblGrid>
              <a:tr h="1874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셋업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□ HIPOT 설비 Test 결과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- 내전압 Test 양/불 이상 없음.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- 절연저항 Test 양/불 이상 없음.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- 컨트롤 디스플레이 연동 / 동작 이상 없음.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□ 셋업 결과 :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만족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7635240" y="6419088"/>
            <a:ext cx="1247242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34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434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92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806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434" dirty="0"/>
          </a:p>
        </p:txBody>
      </p:sp>
      <p:sp>
        <p:nvSpPr>
          <p:cNvPr id="12" name="Text 8"/>
          <p:cNvSpPr/>
          <p:nvPr/>
        </p:nvSpPr>
        <p:spPr>
          <a:xfrm>
            <a:off x="4206240" y="65105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EOL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77240"/>
          <a:ext cx="841248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691640"/>
                <a:gridCol w="731520"/>
                <a:gridCol w="1463040"/>
                <a:gridCol w="960120"/>
                <a:gridCol w="1463040"/>
                <a:gridCol w="502920"/>
                <a:gridCol w="8229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공정명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설비명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EOL Test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Machine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설비 모델명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EOL Test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Machine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S/N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S/N ]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365760" y="1417320"/>
            <a:ext cx="4114800" cy="26974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dash"/>
          </a:ln>
        </p:spPr>
      </p:sp>
      <p:sp>
        <p:nvSpPr>
          <p:cNvPr id="5" name="Text 2"/>
          <p:cNvSpPr/>
          <p:nvPr/>
        </p:nvSpPr>
        <p:spPr>
          <a:xfrm>
            <a:off x="365760" y="25374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설비 사진 삽입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663440" y="1417320"/>
            <a:ext cx="4114800" cy="26974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4663440" y="25374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설비 화면 사진 삽입</a:t>
            </a:r>
            <a:endParaRPr lang="en-US" sz="12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343400"/>
          <a:ext cx="84124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7772400"/>
              </a:tblGrid>
              <a:tr h="1874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셋업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□ EOL 설비 Test 결과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- Open/Short Test 이상 없음.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- 저저항 검사 Test 이상 없음.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- 컨트롤 디스플레이 연동 / 동작 이상 없음.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□ 셋업 결과 :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70C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만족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7635240" y="6419088"/>
            <a:ext cx="1247242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34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434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92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806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434" dirty="0"/>
          </a:p>
        </p:txBody>
      </p:sp>
      <p:sp>
        <p:nvSpPr>
          <p:cNvPr id="12" name="Text 8"/>
          <p:cNvSpPr/>
          <p:nvPr/>
        </p:nvSpPr>
        <p:spPr>
          <a:xfrm>
            <a:off x="4206240" y="65105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셋업 이슈 및 대책 (BSA EOL)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68680"/>
          <a:ext cx="84124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51760"/>
                <a:gridCol w="2286000"/>
                <a:gridCol w="2468880"/>
                <a:gridCol w="54864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문제점 (AS-IS)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원인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대책 (TO-BE)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적용일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 검사 전 캐리어 팝업 시 온도센서와 간섭 구간 기구물 수정 필요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캐리어 팝업 동작 범위와 온도센서 위치 간 간섭 미검토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간섭 구간 기구물 수정 완료 → 캐리어 팝업 동작 시 온도센서 간섭 없음 확인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완료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 검사 전 부품 바코드 리딩 확보 필요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부품 바코드 위치와 리더기 설치 위치 간 불일치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리더기 위치 조정 완료 → 부품 바코드 리딩 정상 확인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완료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내전압 검사 시 상부 동판과 FPCB 본딩부 코팅 영역(면적 증가 시) 간 접착 방지 대안 수립 필요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코팅 면적 증가에 따른 상부 동판과의 접촉·접착 가능성 사전 검토 미흡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코팅액 과도포 기준 대비 5mm 유격 적용 완료 → 내전압 검사 시 접착 현상 없음 확인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완료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EOL NTC 온도저항 → 온도 환산 후 표기 필요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EOL NTC 온도저항 값만 표기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저항값 → 온도 환산 표기 적용 완료 (검사 화면 온도값 표기 확인)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완료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온도센서 별물 조립 후 EOL 검사 진행 필요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EOL 후 별물조립 중 취급성으로 인한 NTC 손상 risk 큼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설비 및 JIG 수정, Set-Up 완료 → 온도센서 별물 조립 후 EOL 검사 진행 가능 확인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7/23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완료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365760" y="5806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제기: 세방리튬배터리 품질관리팀 (구현서 책임)  /  조치: 글로우원 개발팀 (장현순 매니저)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635240" y="6419088"/>
            <a:ext cx="1247242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34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434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92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806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434" dirty="0"/>
          </a:p>
        </p:txBody>
      </p:sp>
      <p:sp>
        <p:nvSpPr>
          <p:cNvPr id="8" name="Text 5"/>
          <p:cNvSpPr/>
          <p:nvPr/>
        </p:nvSpPr>
        <p:spPr>
          <a:xfrm>
            <a:off x="4206240" y="65105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 EV INLINE(자동화 검사 라인) UPH.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777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자동화 검사 UPH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34440"/>
          <a:ext cx="859536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548640"/>
                <a:gridCol w="502920"/>
                <a:gridCol w="594360"/>
                <a:gridCol w="640080"/>
                <a:gridCol w="548640"/>
                <a:gridCol w="566928"/>
                <a:gridCol w="566928"/>
                <a:gridCol w="566928"/>
                <a:gridCol w="566928"/>
                <a:gridCol w="685800"/>
                <a:gridCol w="621792"/>
                <a:gridCol w="566928"/>
                <a:gridCol w="566928"/>
                <a:gridCol w="548640"/>
              </a:tblGrid>
              <a:tr h="320040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라인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C/T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(SEC)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작업조건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생산 CAPA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생산계획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잔여 CAPA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cPr/>
                </a:tc>
              </a:tr>
              <a:tr h="457200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근무일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(일/월)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작업시간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(hr/일)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가동율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(%)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시간당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일당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월간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연간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연간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생산대수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월 평균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소요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(UPH)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과부족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(EA)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대비(%)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 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20040" y="2606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수치는 확정 데이터 수신 후 기입 예정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7635240" y="6419088"/>
            <a:ext cx="1247242" cy="351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434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434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92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806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434" dirty="0"/>
          </a:p>
        </p:txBody>
      </p:sp>
      <p:sp>
        <p:nvSpPr>
          <p:cNvPr id="9" name="Text 6"/>
          <p:cNvSpPr/>
          <p:nvPr/>
        </p:nvSpPr>
        <p:spPr>
          <a:xfrm>
            <a:off x="4206240" y="65105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2026-08-06T04:46:56Z</dcterms:created>
  <dcterms:modified xsi:type="dcterms:W3CDTF">2026-08-06T04:46:56Z</dcterms:modified>
</cp:coreProperties>
</file>