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9144000" cy="6858000"/>
  <p:notesSz cx="68580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164592"/>
            <a:ext cx="2313432" cy="6519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0000"/>
              </a:lnSpc>
              <a:buNone/>
            </a:pPr>
            <a:r>
              <a:rPr lang="en-US" sz="805" i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songhyun</a:t>
            </a:r>
            <a:endParaRPr lang="en-US" sz="805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840" b="1" i="1" dirty="0">
                <a:solidFill>
                  <a:srgbClr val="00A6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GlowOne</a:t>
            </a:r>
            <a:pPr indent="0" marL="0">
              <a:lnSpc>
                <a:spcPct val="90000"/>
              </a:lnSpc>
              <a:buNone/>
            </a:pPr>
            <a:r>
              <a:rPr lang="en-US" sz="1495" b="1" dirty="0">
                <a:solidFill>
                  <a:srgbClr val="E842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”</a:t>
            </a:r>
            <a:endParaRPr lang="en-US" sz="805" dirty="0"/>
          </a:p>
        </p:txBody>
      </p:sp>
      <p:sp>
        <p:nvSpPr>
          <p:cNvPr id="3" name="Shape 1"/>
          <p:cNvSpPr/>
          <p:nvPr/>
        </p:nvSpPr>
        <p:spPr>
          <a:xfrm>
            <a:off x="0" y="914400"/>
            <a:ext cx="9144000" cy="0"/>
          </a:xfrm>
          <a:prstGeom prst="line">
            <a:avLst/>
          </a:prstGeom>
          <a:noFill/>
          <a:ln w="25400">
            <a:solidFill>
              <a:srgbClr val="00A65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21488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736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BJ EV </a:t>
            </a:r>
            <a:pPr algn="ctr" indent="0" marL="0">
              <a:buNone/>
            </a:pPr>
            <a:r>
              <a:rPr lang="en-US" sz="2600" b="1" dirty="0">
                <a:solidFill>
                  <a:srgbClr val="1736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검사기 </a:t>
            </a:r>
            <a:pPr algn="ctr" indent="0" marL="0">
              <a:buNone/>
            </a:pPr>
            <a:r>
              <a:rPr lang="en-US" sz="2600" b="1" dirty="0">
                <a:solidFill>
                  <a:srgbClr val="1736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Set-Up </a:t>
            </a:r>
            <a:pPr algn="ctr" indent="0" marL="0">
              <a:buNone/>
            </a:pPr>
            <a:r>
              <a:rPr lang="en-US" sz="2600" b="1" dirty="0">
                <a:solidFill>
                  <a:srgbClr val="1736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완료 보고서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914400" y="2880360"/>
            <a:ext cx="7315200" cy="0"/>
          </a:xfrm>
          <a:prstGeom prst="line">
            <a:avLst/>
          </a:prstGeom>
          <a:noFill/>
          <a:ln w="15875">
            <a:solidFill>
              <a:srgbClr val="4472C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321040" y="2633472"/>
            <a:ext cx="201168" cy="201168"/>
          </a:xfrm>
          <a:prstGeom prst="rect">
            <a:avLst/>
          </a:prstGeom>
          <a:solidFill>
            <a:srgbClr val="2E5B9F"/>
          </a:solidFill>
          <a:ln/>
        </p:spPr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331720" y="3657600"/>
          <a:ext cx="4480560" cy="914400"/>
        </p:xfrm>
        <a:graphic>
          <a:graphicData uri="http://schemas.openxmlformats.org/drawingml/2006/table">
            <a:tbl>
              <a:tblPr/>
              <a:tblGrid>
                <a:gridCol w="365760"/>
                <a:gridCol w="822960"/>
                <a:gridCol w="822960"/>
                <a:gridCol w="822960"/>
                <a:gridCol w="822960"/>
                <a:gridCol w="822960"/>
              </a:tblGrid>
              <a:tr h="292608">
                <a:tc rowSpan="2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결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재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작성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검토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실장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부문장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대표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77240">
                <a:tc vMerge="1">
                  <a:tcPr/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5852160" y="5623560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EV생산기술팀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852160" y="5925312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 년  8 월  5 일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228600" y="6473952"/>
            <a:ext cx="8686800" cy="0"/>
          </a:xfrm>
          <a:prstGeom prst="line">
            <a:avLst/>
          </a:prstGeom>
          <a:noFill/>
          <a:ln w="19050">
            <a:solidFill>
              <a:srgbClr val="00A651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228600" y="6510528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00A6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Creative Solution Company with Advanced Technology</a:t>
            </a:r>
            <a:endParaRPr lang="en-US" sz="750" dirty="0"/>
          </a:p>
        </p:txBody>
      </p:sp>
      <p:sp>
        <p:nvSpPr>
          <p:cNvPr id="12" name="Text 9"/>
          <p:cNvSpPr/>
          <p:nvPr/>
        </p:nvSpPr>
        <p:spPr>
          <a:xfrm>
            <a:off x="7635240" y="6419088"/>
            <a:ext cx="1247242" cy="3514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0000"/>
              </a:lnSpc>
              <a:buNone/>
            </a:pPr>
            <a:r>
              <a:rPr lang="en-US" sz="434" i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songhyun</a:t>
            </a:r>
            <a:endParaRPr lang="en-US" sz="434" dirty="0"/>
          </a:p>
          <a:p>
            <a:pPr indent="0" marL="0">
              <a:lnSpc>
                <a:spcPct val="90000"/>
              </a:lnSpc>
              <a:buNone/>
            </a:pPr>
            <a:r>
              <a:rPr lang="en-US" sz="992" b="1" i="1" dirty="0">
                <a:solidFill>
                  <a:srgbClr val="00A6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GlowOne</a:t>
            </a:r>
            <a:pPr indent="0" marL="0">
              <a:lnSpc>
                <a:spcPct val="90000"/>
              </a:lnSpc>
              <a:buNone/>
            </a:pPr>
            <a:r>
              <a:rPr lang="en-US" sz="806" b="1" dirty="0">
                <a:solidFill>
                  <a:srgbClr val="E842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”</a:t>
            </a:r>
            <a:endParaRPr lang="en-US" sz="434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274320"/>
            <a:ext cx="8503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</a:t>
            </a:r>
            <a:pPr algn="l"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설비 셋업 LAY OUT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11480" y="777240"/>
            <a:ext cx="1554480" cy="310896"/>
          </a:xfrm>
          <a:prstGeom prst="rect">
            <a:avLst/>
          </a:prstGeom>
          <a:solidFill>
            <a:srgbClr val="4472C4"/>
          </a:solidFill>
          <a:ln/>
        </p:spPr>
      </p:sp>
      <p:sp>
        <p:nvSpPr>
          <p:cNvPr id="4" name="Text 2"/>
          <p:cNvSpPr/>
          <p:nvPr/>
        </p:nvSpPr>
        <p:spPr>
          <a:xfrm>
            <a:off x="411480" y="777240"/>
            <a:ext cx="1554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BJ 라인 LAY OUT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11480" y="1280160"/>
            <a:ext cx="8321040" cy="4937760"/>
          </a:xfrm>
          <a:prstGeom prst="rect">
            <a:avLst/>
          </a:prstGeom>
          <a:solidFill>
            <a:srgbClr val="F7F7F7"/>
          </a:solidFill>
          <a:ln w="12700">
            <a:solidFill>
              <a:srgbClr val="BFBFBF"/>
            </a:solidFill>
            <a:prstDash val="dash"/>
          </a:ln>
        </p:spPr>
      </p:sp>
      <p:sp>
        <p:nvSpPr>
          <p:cNvPr id="6" name="Text 4"/>
          <p:cNvSpPr/>
          <p:nvPr/>
        </p:nvSpPr>
        <p:spPr>
          <a:xfrm>
            <a:off x="411480" y="3520440"/>
            <a:ext cx="8321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08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레이아웃 도면 / 사진 삽입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228600" y="6473952"/>
            <a:ext cx="8686800" cy="0"/>
          </a:xfrm>
          <a:prstGeom prst="line">
            <a:avLst/>
          </a:prstGeom>
          <a:noFill/>
          <a:ln w="19050">
            <a:solidFill>
              <a:srgbClr val="00A65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28600" y="6510528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00A6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Creative Solution Company with Advanced Technology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7635240" y="6419088"/>
            <a:ext cx="1247242" cy="3514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0000"/>
              </a:lnSpc>
              <a:buNone/>
            </a:pPr>
            <a:r>
              <a:rPr lang="en-US" sz="434" i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songhyun</a:t>
            </a:r>
            <a:endParaRPr lang="en-US" sz="434" dirty="0"/>
          </a:p>
          <a:p>
            <a:pPr indent="0" marL="0">
              <a:lnSpc>
                <a:spcPct val="90000"/>
              </a:lnSpc>
              <a:buNone/>
            </a:pPr>
            <a:r>
              <a:rPr lang="en-US" sz="992" b="1" i="1" dirty="0">
                <a:solidFill>
                  <a:srgbClr val="00A6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GlowOne</a:t>
            </a:r>
            <a:pPr indent="0" marL="0">
              <a:lnSpc>
                <a:spcPct val="90000"/>
              </a:lnSpc>
              <a:buNone/>
            </a:pPr>
            <a:r>
              <a:rPr lang="en-US" sz="806" b="1" dirty="0">
                <a:solidFill>
                  <a:srgbClr val="E842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”</a:t>
            </a:r>
            <a:endParaRPr lang="en-US" sz="434" dirty="0"/>
          </a:p>
        </p:txBody>
      </p:sp>
      <p:sp>
        <p:nvSpPr>
          <p:cNvPr id="10" name="Text 8"/>
          <p:cNvSpPr/>
          <p:nvPr/>
        </p:nvSpPr>
        <p:spPr>
          <a:xfrm>
            <a:off x="4206240" y="6510528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0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274320"/>
            <a:ext cx="8503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</a:t>
            </a:r>
            <a:pPr algn="l"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내전압&amp;절연저항 검사기</a:t>
            </a:r>
            <a:endParaRPr lang="en-US" sz="12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77240"/>
          <a:ext cx="8412480" cy="914400"/>
        </p:xfrm>
        <a:graphic>
          <a:graphicData uri="http://schemas.openxmlformats.org/drawingml/2006/table">
            <a:tbl>
              <a:tblPr/>
              <a:tblGrid>
                <a:gridCol w="777240"/>
                <a:gridCol w="1691640"/>
                <a:gridCol w="731520"/>
                <a:gridCol w="1463040"/>
                <a:gridCol w="960120"/>
                <a:gridCol w="1463040"/>
                <a:gridCol w="502920"/>
                <a:gridCol w="82296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공정명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70C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내전압&amp;절연저항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70C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검사기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설비명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70C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HIPOT Test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70C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Machine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설비 모델명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70C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HIPOT Test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70C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Machine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S/N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70C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 S/N ]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365760" y="1417320"/>
            <a:ext cx="4114800" cy="2697480"/>
          </a:xfrm>
          <a:prstGeom prst="rect">
            <a:avLst/>
          </a:prstGeom>
          <a:solidFill>
            <a:srgbClr val="F7F7F7"/>
          </a:solidFill>
          <a:ln w="12700">
            <a:solidFill>
              <a:srgbClr val="BFBFBF"/>
            </a:solidFill>
            <a:prstDash val="dash"/>
          </a:ln>
        </p:spPr>
      </p:sp>
      <p:sp>
        <p:nvSpPr>
          <p:cNvPr id="5" name="Text 2"/>
          <p:cNvSpPr/>
          <p:nvPr/>
        </p:nvSpPr>
        <p:spPr>
          <a:xfrm>
            <a:off x="365760" y="25374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08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설비 사진 삽입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4663440" y="1417320"/>
            <a:ext cx="4114800" cy="2697480"/>
          </a:xfrm>
          <a:prstGeom prst="rect">
            <a:avLst/>
          </a:prstGeom>
          <a:solidFill>
            <a:srgbClr val="F7F7F7"/>
          </a:solidFill>
          <a:ln w="12700">
            <a:solidFill>
              <a:srgbClr val="BFBFBF"/>
            </a:solidFill>
            <a:prstDash val="dash"/>
          </a:ln>
        </p:spPr>
      </p:sp>
      <p:sp>
        <p:nvSpPr>
          <p:cNvPr id="7" name="Text 4"/>
          <p:cNvSpPr/>
          <p:nvPr/>
        </p:nvSpPr>
        <p:spPr>
          <a:xfrm>
            <a:off x="4663440" y="25374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08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설비 화면 사진 삽입</a:t>
            </a:r>
            <a:endParaRPr lang="en-US" sz="1200" dirty="0"/>
          </a:p>
        </p:txBody>
      </p:sp>
      <p:graphicFrame>
        <p:nvGraphicFramePr>
          <p:cNvPr id="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4343400"/>
          <a:ext cx="841248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7772400"/>
              </a:tblGrid>
              <a:tr h="1874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셋업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결과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73152" marB="73152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□ HIPOT 설비 Test 결과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l" indent="0" marL="0">
                        <a:buNone/>
                      </a:pP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   - 내전압 Test 양/불 이상 없음.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   - 절연저항 Test 양/불 이상 없음.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   - 컨트롤 디스플레이 연동 / 동작 이상 없음.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l" indent="0" marL="0">
                        <a:buNone/>
                      </a:pP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□ 셋업 결과 : </a:t>
                      </a:r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070C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만족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73152" marB="73152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228600" y="6473952"/>
            <a:ext cx="8686800" cy="0"/>
          </a:xfrm>
          <a:prstGeom prst="line">
            <a:avLst/>
          </a:prstGeom>
          <a:noFill/>
          <a:ln w="19050">
            <a:solidFill>
              <a:srgbClr val="00A651"/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228600" y="6510528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00A6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Creative Solution Company with Advanced Technology</a:t>
            </a:r>
            <a:endParaRPr lang="en-US" sz="750" dirty="0"/>
          </a:p>
        </p:txBody>
      </p:sp>
      <p:sp>
        <p:nvSpPr>
          <p:cNvPr id="11" name="Text 7"/>
          <p:cNvSpPr/>
          <p:nvPr/>
        </p:nvSpPr>
        <p:spPr>
          <a:xfrm>
            <a:off x="7635240" y="6419088"/>
            <a:ext cx="1247242" cy="3514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0000"/>
              </a:lnSpc>
              <a:buNone/>
            </a:pPr>
            <a:r>
              <a:rPr lang="en-US" sz="434" i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songhyun</a:t>
            </a:r>
            <a:endParaRPr lang="en-US" sz="434" dirty="0"/>
          </a:p>
          <a:p>
            <a:pPr indent="0" marL="0">
              <a:lnSpc>
                <a:spcPct val="90000"/>
              </a:lnSpc>
              <a:buNone/>
            </a:pPr>
            <a:r>
              <a:rPr lang="en-US" sz="992" b="1" i="1" dirty="0">
                <a:solidFill>
                  <a:srgbClr val="00A6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GlowOne</a:t>
            </a:r>
            <a:pPr indent="0" marL="0">
              <a:lnSpc>
                <a:spcPct val="90000"/>
              </a:lnSpc>
              <a:buNone/>
            </a:pPr>
            <a:r>
              <a:rPr lang="en-US" sz="806" b="1" dirty="0">
                <a:solidFill>
                  <a:srgbClr val="E842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”</a:t>
            </a:r>
            <a:endParaRPr lang="en-US" sz="434" dirty="0"/>
          </a:p>
        </p:txBody>
      </p:sp>
      <p:sp>
        <p:nvSpPr>
          <p:cNvPr id="12" name="Text 8"/>
          <p:cNvSpPr/>
          <p:nvPr/>
        </p:nvSpPr>
        <p:spPr>
          <a:xfrm>
            <a:off x="4206240" y="6510528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0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274320"/>
            <a:ext cx="8503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</a:t>
            </a:r>
            <a:pPr algn="l"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EOL</a:t>
            </a:r>
            <a:endParaRPr lang="en-US" sz="12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77240"/>
          <a:ext cx="8412480" cy="914400"/>
        </p:xfrm>
        <a:graphic>
          <a:graphicData uri="http://schemas.openxmlformats.org/drawingml/2006/table">
            <a:tbl>
              <a:tblPr/>
              <a:tblGrid>
                <a:gridCol w="777240"/>
                <a:gridCol w="1691640"/>
                <a:gridCol w="731520"/>
                <a:gridCol w="1463040"/>
                <a:gridCol w="960120"/>
                <a:gridCol w="1463040"/>
                <a:gridCol w="502920"/>
                <a:gridCol w="82296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공정명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70C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EOL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설비명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70C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EOL Test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70C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Machine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설비 모델명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70C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EOL Test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70C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Machine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S/N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70C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 S/N ]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365760" y="1417320"/>
            <a:ext cx="4114800" cy="2697480"/>
          </a:xfrm>
          <a:prstGeom prst="rect">
            <a:avLst/>
          </a:prstGeom>
          <a:solidFill>
            <a:srgbClr val="F7F7F7"/>
          </a:solidFill>
          <a:ln w="12700">
            <a:solidFill>
              <a:srgbClr val="BFBFBF"/>
            </a:solidFill>
            <a:prstDash val="dash"/>
          </a:ln>
        </p:spPr>
      </p:sp>
      <p:sp>
        <p:nvSpPr>
          <p:cNvPr id="5" name="Text 2"/>
          <p:cNvSpPr/>
          <p:nvPr/>
        </p:nvSpPr>
        <p:spPr>
          <a:xfrm>
            <a:off x="365760" y="25374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08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설비 사진 삽입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4663440" y="1417320"/>
            <a:ext cx="4114800" cy="2697480"/>
          </a:xfrm>
          <a:prstGeom prst="rect">
            <a:avLst/>
          </a:prstGeom>
          <a:solidFill>
            <a:srgbClr val="F7F7F7"/>
          </a:solidFill>
          <a:ln w="12700">
            <a:solidFill>
              <a:srgbClr val="BFBFBF"/>
            </a:solidFill>
            <a:prstDash val="dash"/>
          </a:ln>
        </p:spPr>
      </p:sp>
      <p:sp>
        <p:nvSpPr>
          <p:cNvPr id="7" name="Text 4"/>
          <p:cNvSpPr/>
          <p:nvPr/>
        </p:nvSpPr>
        <p:spPr>
          <a:xfrm>
            <a:off x="4663440" y="25374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08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설비 화면 사진 삽입</a:t>
            </a:r>
            <a:endParaRPr lang="en-US" sz="1200" dirty="0"/>
          </a:p>
        </p:txBody>
      </p:sp>
      <p:graphicFrame>
        <p:nvGraphicFramePr>
          <p:cNvPr id="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4343400"/>
          <a:ext cx="841248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7772400"/>
              </a:tblGrid>
              <a:tr h="1874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셋업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결과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73152" marB="73152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□ EOL 설비 Test 결과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l" indent="0" marL="0">
                        <a:buNone/>
                      </a:pP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   - Open/Short Test 이상 없음.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   - 저저항 검사 Test 이상 없음.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   - 컨트롤 디스플레이 연동 / 동작 이상 없음.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l" indent="0" marL="0">
                        <a:buNone/>
                      </a:pP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□ 셋업 결과 : </a:t>
                      </a:r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070C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만족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73152" marB="73152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228600" y="6473952"/>
            <a:ext cx="8686800" cy="0"/>
          </a:xfrm>
          <a:prstGeom prst="line">
            <a:avLst/>
          </a:prstGeom>
          <a:noFill/>
          <a:ln w="19050">
            <a:solidFill>
              <a:srgbClr val="00A651"/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228600" y="6510528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00A6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Creative Solution Company with Advanced Technology</a:t>
            </a:r>
            <a:endParaRPr lang="en-US" sz="750" dirty="0"/>
          </a:p>
        </p:txBody>
      </p:sp>
      <p:sp>
        <p:nvSpPr>
          <p:cNvPr id="11" name="Text 7"/>
          <p:cNvSpPr/>
          <p:nvPr/>
        </p:nvSpPr>
        <p:spPr>
          <a:xfrm>
            <a:off x="7635240" y="6419088"/>
            <a:ext cx="1247242" cy="3514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0000"/>
              </a:lnSpc>
              <a:buNone/>
            </a:pPr>
            <a:r>
              <a:rPr lang="en-US" sz="434" i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songhyun</a:t>
            </a:r>
            <a:endParaRPr lang="en-US" sz="434" dirty="0"/>
          </a:p>
          <a:p>
            <a:pPr indent="0" marL="0">
              <a:lnSpc>
                <a:spcPct val="90000"/>
              </a:lnSpc>
              <a:buNone/>
            </a:pPr>
            <a:r>
              <a:rPr lang="en-US" sz="992" b="1" i="1" dirty="0">
                <a:solidFill>
                  <a:srgbClr val="00A6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GlowOne</a:t>
            </a:r>
            <a:pPr indent="0" marL="0">
              <a:lnSpc>
                <a:spcPct val="90000"/>
              </a:lnSpc>
              <a:buNone/>
            </a:pPr>
            <a:r>
              <a:rPr lang="en-US" sz="806" b="1" dirty="0">
                <a:solidFill>
                  <a:srgbClr val="E842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”</a:t>
            </a:r>
            <a:endParaRPr lang="en-US" sz="434" dirty="0"/>
          </a:p>
        </p:txBody>
      </p:sp>
      <p:sp>
        <p:nvSpPr>
          <p:cNvPr id="12" name="Text 8"/>
          <p:cNvSpPr/>
          <p:nvPr/>
        </p:nvSpPr>
        <p:spPr>
          <a:xfrm>
            <a:off x="4206240" y="6510528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0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274320"/>
            <a:ext cx="8503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</a:t>
            </a:r>
            <a:pPr algn="l"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셋업 이슈 및 대책 (BSA EOL)</a:t>
            </a:r>
            <a:endParaRPr lang="en-US" sz="12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868680"/>
          <a:ext cx="8412480" cy="914400"/>
        </p:xfrm>
        <a:graphic>
          <a:graphicData uri="http://schemas.openxmlformats.org/drawingml/2006/table">
            <a:tbl>
              <a:tblPr/>
              <a:tblGrid>
                <a:gridCol w="457200"/>
                <a:gridCol w="2651760"/>
                <a:gridCol w="2286000"/>
                <a:gridCol w="2468880"/>
                <a:gridCol w="548640"/>
              </a:tblGrid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No.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문제점 (AS-IS)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원인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대책 (TO-BE)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적용일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기능 검사 전 캐리어 팝업 시 온도센서와 간섭 구간 기구물 수정 필요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캐리어 팝업 동작 범위와 온도센서 위치 간 간섭 미검토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간섭 구간 기구물 수정 예정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7/23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기능 검사 전 부품 바코드 리딩 확보 필요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부품 바코드 위치와 리더기 설치 위치 간 불일치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리더기 위치 조정 또는 재배치 예정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7/23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9601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내전압 검사 시 상부 동판과 FPCB 본딩부 코팅 영역(면적 증가 시) 간 접착 방지 대안 수립 필요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코팅 면적 증가에 따른 상부 동판과의 접촉·접착 가능성 사전 검토 미흡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코팅액 과도포 기준 대비 5mm 유격 적용 예정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7/23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EOL NTC 온도저항 → 온도 환산 후 표기 필요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EOL NTC 온도저항 값만 표기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저항값 → 온도 환산 표기 적용 예정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7/23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온도센서 별물 조립 후 EOL 검사 진행 필요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EOL 후 별물조립 중 취급성으로 인한 NTC 손상 risk 큼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온도센서 별물 조립 후 EOL 검사 진행 가능하도록 설비 및 JIG 수정, Set-Up 진행 중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7/23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/>
          <p:nvPr/>
        </p:nvSpPr>
        <p:spPr>
          <a:xfrm>
            <a:off x="365760" y="5806440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※ 제기: 세방리튬배터리 품질관리팀 (구현서 책임)  /  조치: 글로우원 개발팀 (장현순 매니저)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228600" y="6473952"/>
            <a:ext cx="8686800" cy="0"/>
          </a:xfrm>
          <a:prstGeom prst="line">
            <a:avLst/>
          </a:prstGeom>
          <a:noFill/>
          <a:ln w="19050">
            <a:solidFill>
              <a:srgbClr val="00A651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228600" y="6510528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00A6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Creative Solution Company with Advanced Technology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7635240" y="6419088"/>
            <a:ext cx="1247242" cy="3514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0000"/>
              </a:lnSpc>
              <a:buNone/>
            </a:pPr>
            <a:r>
              <a:rPr lang="en-US" sz="434" i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songhyun</a:t>
            </a:r>
            <a:endParaRPr lang="en-US" sz="434" dirty="0"/>
          </a:p>
          <a:p>
            <a:pPr indent="0" marL="0">
              <a:lnSpc>
                <a:spcPct val="90000"/>
              </a:lnSpc>
              <a:buNone/>
            </a:pPr>
            <a:r>
              <a:rPr lang="en-US" sz="992" b="1" i="1" dirty="0">
                <a:solidFill>
                  <a:srgbClr val="00A6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GlowOne</a:t>
            </a:r>
            <a:pPr indent="0" marL="0">
              <a:lnSpc>
                <a:spcPct val="90000"/>
              </a:lnSpc>
              <a:buNone/>
            </a:pPr>
            <a:r>
              <a:rPr lang="en-US" sz="806" b="1" dirty="0">
                <a:solidFill>
                  <a:srgbClr val="E842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”</a:t>
            </a:r>
            <a:endParaRPr lang="en-US" sz="434" dirty="0"/>
          </a:p>
        </p:txBody>
      </p:sp>
      <p:sp>
        <p:nvSpPr>
          <p:cNvPr id="8" name="Text 5"/>
          <p:cNvSpPr/>
          <p:nvPr/>
        </p:nvSpPr>
        <p:spPr>
          <a:xfrm>
            <a:off x="4206240" y="6510528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0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274320"/>
            <a:ext cx="8503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</a:t>
            </a:r>
            <a:pPr algn="l"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BJ EV INLINE(자동화 검사 라인) UPH.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7772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▪ 자동화 검사 UPH</a:t>
            </a:r>
            <a:endParaRPr lang="en-US" sz="11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1234440"/>
          <a:ext cx="8595360" cy="914400"/>
        </p:xfrm>
        <a:graphic>
          <a:graphicData uri="http://schemas.openxmlformats.org/drawingml/2006/table">
            <a:tbl>
              <a:tblPr/>
              <a:tblGrid>
                <a:gridCol w="502920"/>
                <a:gridCol w="548640"/>
                <a:gridCol w="502920"/>
                <a:gridCol w="594360"/>
                <a:gridCol w="640080"/>
                <a:gridCol w="548640"/>
                <a:gridCol w="566928"/>
                <a:gridCol w="566928"/>
                <a:gridCol w="566928"/>
                <a:gridCol w="566928"/>
                <a:gridCol w="685800"/>
                <a:gridCol w="621792"/>
                <a:gridCol w="566928"/>
                <a:gridCol w="566928"/>
                <a:gridCol w="548640"/>
              </a:tblGrid>
              <a:tr h="320040">
                <a:tc rowSpan="2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라인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(EA)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C/T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(SEC)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UPH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tc gridSpan="3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작업조건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gridSpan="4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생산 CAPA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gridSpan="3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생산계획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gridSpan="2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잔여 CAPA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tc hMerge="1">
                  <a:tcPr/>
                </a:tc>
              </a:tr>
              <a:tr h="457200">
                <a:tc vMerge="1">
                  <a:tcPr/>
                </a:tc>
                <a:tc vMerge="1">
                  <a:tcPr/>
                </a:tc>
                <a:tc vMerge="1">
                  <a:tcPr/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근무일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(일/월)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작업시간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(hr/일)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가동율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(%)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시간당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(EA)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일당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(EA)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월간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(EA)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연간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(EA)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연간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생산대수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월 평균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(EA)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소요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(UPH)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과부족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(EA)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CAPA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대비(%)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 ]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 ]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 ]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 ]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 ]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 ]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 ]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 ]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 ]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 ]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 ]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 ]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 ]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 ]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 ]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320040" y="2606040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i="1" dirty="0">
                <a:solidFill>
                  <a:srgbClr val="808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※ 수치는 확정 데이터 수신 후 기입 예정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228600" y="6473952"/>
            <a:ext cx="8686800" cy="0"/>
          </a:xfrm>
          <a:prstGeom prst="line">
            <a:avLst/>
          </a:prstGeom>
          <a:noFill/>
          <a:ln w="19050">
            <a:solidFill>
              <a:srgbClr val="00A651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228600" y="6510528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00A6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Creative Solution Company with Advanced Technology</a:t>
            </a:r>
            <a:endParaRPr lang="en-US" sz="750" dirty="0"/>
          </a:p>
        </p:txBody>
      </p:sp>
      <p:sp>
        <p:nvSpPr>
          <p:cNvPr id="8" name="Text 5"/>
          <p:cNvSpPr/>
          <p:nvPr/>
        </p:nvSpPr>
        <p:spPr>
          <a:xfrm>
            <a:off x="7635240" y="6419088"/>
            <a:ext cx="1247242" cy="3514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0000"/>
              </a:lnSpc>
              <a:buNone/>
            </a:pPr>
            <a:r>
              <a:rPr lang="en-US" sz="434" i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songhyun</a:t>
            </a:r>
            <a:endParaRPr lang="en-US" sz="434" dirty="0"/>
          </a:p>
          <a:p>
            <a:pPr indent="0" marL="0">
              <a:lnSpc>
                <a:spcPct val="90000"/>
              </a:lnSpc>
              <a:buNone/>
            </a:pPr>
            <a:r>
              <a:rPr lang="en-US" sz="992" b="1" i="1" dirty="0">
                <a:solidFill>
                  <a:srgbClr val="00A6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GlowOne</a:t>
            </a:r>
            <a:pPr indent="0" marL="0">
              <a:lnSpc>
                <a:spcPct val="90000"/>
              </a:lnSpc>
              <a:buNone/>
            </a:pPr>
            <a:r>
              <a:rPr lang="en-US" sz="806" b="1" dirty="0">
                <a:solidFill>
                  <a:srgbClr val="E842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”</a:t>
            </a:r>
            <a:endParaRPr lang="en-US" sz="434" dirty="0"/>
          </a:p>
        </p:txBody>
      </p:sp>
      <p:sp>
        <p:nvSpPr>
          <p:cNvPr id="9" name="Text 6"/>
          <p:cNvSpPr/>
          <p:nvPr/>
        </p:nvSpPr>
        <p:spPr>
          <a:xfrm>
            <a:off x="4206240" y="6510528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0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2026-08-06T02:39:30Z</dcterms:created>
  <dcterms:modified xsi:type="dcterms:W3CDTF">2026-08-06T02:39:30Z</dcterms:modified>
</cp:coreProperties>
</file>